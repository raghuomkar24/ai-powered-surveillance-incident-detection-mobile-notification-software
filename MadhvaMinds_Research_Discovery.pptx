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509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384048"/>
            <a:ext cx="2084832" cy="6071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783080"/>
            <a:ext cx="822960" cy="45720"/>
          </a:xfrm>
          <a:prstGeom prst="rect">
            <a:avLst/>
          </a:prstGeom>
          <a:solidFill>
            <a:srgbClr val="D75639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RESEARCH &amp; DISCOVERY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MadhvaMinds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101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7A7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Surveillance Incident Detection &amp; Mobile notification software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5257800"/>
            <a:ext cx="10911535" cy="0"/>
          </a:xfrm>
          <a:prstGeom prst="line">
            <a:avLst/>
          </a:prstGeom>
          <a:noFill/>
          <a:ln w="12700">
            <a:solidFill>
              <a:srgbClr val="E3D9C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486400"/>
            <a:ext cx="2545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779008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Amruta Kulkarni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Raghavendra Omkar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Vidish R Mannur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367964" y="5486400"/>
            <a:ext cx="2545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67964" y="5779008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Vikram R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095848" y="5486400"/>
            <a:ext cx="2545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095848" y="5779008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05.09.2026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823731" y="5486400"/>
            <a:ext cx="2545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640852" y="5777110"/>
            <a:ext cx="25450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5CFC95-F23D-8115-F8D9-D0E3E787026E}"/>
              </a:ext>
            </a:extLst>
          </p:cNvPr>
          <p:cNvSpPr txBox="1"/>
          <p:nvPr/>
        </p:nvSpPr>
        <p:spPr>
          <a:xfrm>
            <a:off x="8823731" y="6108882"/>
            <a:ext cx="25146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 i="0" dirty="0" err="1">
                <a:solidFill>
                  <a:srgbClr val="1E1D1C"/>
                </a:solidFill>
                <a:latin typeface="Aptos"/>
              </a:rPr>
              <a:t>MadhvaMinds</a:t>
            </a:r>
            <a:r>
              <a:rPr sz="1100" b="0" i="0" dirty="0">
                <a:solidFill>
                  <a:srgbClr val="1E1D1C"/>
                </a:solidFill>
                <a:latin typeface="Aptos"/>
              </a:rPr>
              <a:t> • VS Code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384048"/>
            <a:ext cx="2084832" cy="6071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583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167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solving, why does it matter, and why now?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55648"/>
            <a:ext cx="10911535" cy="0"/>
          </a:xfrm>
          <a:prstGeom prst="line">
            <a:avLst/>
          </a:prstGeom>
          <a:noFill/>
          <a:ln w="12700">
            <a:solidFill>
              <a:srgbClr val="E3D9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993392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3423818" cy="429768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41248" y="2560320"/>
            <a:ext cx="302148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incidents — robbery, physical assault, fire outbreaks, hit-and-runs and other roadside accidents — are still detected the old way: a victim or bystander has to notice, decide to act, and call the police after the incident has already happened.</a:t>
            </a:r>
            <a:endParaRPr lang="en-US" sz="1600" dirty="0"/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system actively watching CCTV feeds in real time and flagging trouble the moment it occurs.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383938" y="1993392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3938" y="2377440"/>
            <a:ext cx="3423818" cy="429768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4585106" y="2560320"/>
            <a:ext cx="302148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recorded over 58.85 lakh cognisable crimes in 2024, and separately logged 1.99 lakh traffic deaths the same year (~546 a day) — and these are only the incidents that got reported.</a:t>
            </a:r>
            <a:endParaRPr lang="en-US" sz="1600" dirty="0"/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— robbery, assault, fire, accidents — shares the same weak link: detection depends entirely on a human noticing and choosing to act.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127797" y="1993392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27797" y="2377440"/>
            <a:ext cx="3423818" cy="429768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8328965" y="2560320"/>
            <a:ext cx="302148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infrastructure and control rooms already exist in most cities — but rely on human operators watching dozens of feeds at once, which is exhausting, error-prone, and creates room for negligence or corruption.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Affordable, capable AI vision models now make a tireless “extra set of eyes” on the same feeds possible.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384048"/>
            <a:ext cx="2084832" cy="6071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583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167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experiences this problem, and who experiences it most strongly?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55648"/>
            <a:ext cx="10911535" cy="0"/>
          </a:xfrm>
          <a:prstGeom prst="line">
            <a:avLst/>
          </a:prstGeom>
          <a:noFill/>
          <a:ln w="12700">
            <a:solidFill>
              <a:srgbClr val="E3D9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993392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3423818" cy="429768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41248" y="2560320"/>
            <a:ext cx="302148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control room operators and officers.</a:t>
            </a:r>
            <a:endParaRPr lang="en-US" sz="1600" dirty="0"/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they sit in front of a wall of CCTV monitors, manually scanning dozens of live feeds, relying entirely on catching something suspicious with their own eyes — for hours at a stretch, across every shift.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383938" y="1993392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USER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3938" y="2377440"/>
            <a:ext cx="3423818" cy="429768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4585106" y="2560320"/>
            <a:ext cx="302148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public — bystanders and potential victims of robbery, assault, fire, or accidents.</a:t>
            </a:r>
            <a:endParaRPr lang="en-US" sz="1600" dirty="0"/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direct system users, but they are who the faster response ultimately protects; today they are the ones who have to notice, decide, and call it in themselves.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127797" y="1993392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IT MOST STRONGLY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27797" y="2377440"/>
            <a:ext cx="3423818" cy="429768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8328965" y="2560320"/>
            <a:ext cx="302148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operators.</a:t>
            </a:r>
            <a:endParaRPr lang="en-US" sz="1600" dirty="0"/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carry the accountability for missed incidents but work with a fundamentally unscalable setup — a handful of people watching a hundred screens. This is who the MVP is designed for: an AI co-pilot that never blinks.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384048"/>
            <a:ext cx="2084832" cy="6071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583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167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profile, goal, current behaviour, pain points, alternatives, key quote.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55648"/>
            <a:ext cx="10911535" cy="0"/>
          </a:xfrm>
          <a:prstGeom prst="line">
            <a:avLst/>
          </a:prstGeom>
          <a:noFill/>
          <a:ln w="12700">
            <a:solidFill>
              <a:srgbClr val="E3D9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993392"/>
            <a:ext cx="527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1 — CONTROL ROOM OPERATOR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5272888" cy="429768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41248" y="2560320"/>
            <a:ext cx="48705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Ramesh Naik, 42</a:t>
            </a:r>
            <a:endParaRPr lang="en-US" sz="1600" dirty="0"/>
          </a:p>
          <a:p>
            <a:pPr marL="0" indent="0" algn="just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Night-shift control room officer, City Police Command Centre. Goal: catch incidents in real time without missing anything across his bank of 60+ camera feeds.</a:t>
            </a:r>
            <a:endParaRPr lang="en-US" sz="1600" dirty="0"/>
          </a:p>
          <a:p>
            <a:pPr marL="0" indent="0" algn="just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behaviour: Scans monitors manually in rotation, relying on peripheral vision and instinct; by hour 4 of a shift, fatigue sets in and small incidents at the edge of a frame get missed. His only alternative is hiring more staff — not feasible at city scale — or waiting for a phone call after the fact.</a:t>
            </a:r>
            <a:endParaRPr lang="en-US" sz="1600" dirty="0"/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 watch sixty screens, or I can watch one screen carefully. I can't do both.”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278728" y="1993392"/>
            <a:ext cx="527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2 — BYSTANDER / POTENTIAL VICTIM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78728" y="2377440"/>
            <a:ext cx="5272888" cy="429768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6479896" y="2560320"/>
            <a:ext cx="48705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 Shetty, 27</a:t>
            </a:r>
            <a:endParaRPr lang="en-US" sz="1600" dirty="0"/>
          </a:p>
          <a:p>
            <a:pPr marL="0" indent="0" algn="just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late shifts at a retail store, commutes home alone at night. Goal: feel safe walking to her scooter and know help would arrive quickly if something happened.</a:t>
            </a:r>
            <a:endParaRPr lang="en-US" sz="1600" dirty="0"/>
          </a:p>
          <a:p>
            <a:pPr marL="0" indent="0" algn="just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behaviour: Shares her live location with family over call as a precaution; if she witnesses or experiences an incident, she has to stop, pull out her phone, and manually call the police — losing critical time. Her only alternative is hoping someone else calls it in, or avoiding certain routes altogether.</a:t>
            </a:r>
            <a:endParaRPr lang="en-US" sz="1600" dirty="0"/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“By the time I've dialed 100 and explained where I am, whoever did it is long gone.”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384048"/>
            <a:ext cx="2084832" cy="6071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583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167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number of users contacted, sources, and key findings.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55648"/>
            <a:ext cx="10911535" cy="0"/>
          </a:xfrm>
          <a:prstGeom prst="line">
            <a:avLst/>
          </a:prstGeom>
          <a:noFill/>
          <a:ln w="12700">
            <a:solidFill>
              <a:srgbClr val="E3D9C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7750" y="1993391"/>
            <a:ext cx="10783865" cy="347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RESEARCH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2377440"/>
            <a:ext cx="10911536" cy="3822189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767751" y="2560320"/>
            <a:ext cx="10582697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Bengaluru's 112 helpline received 26.92 lakh calls in 2024, with roughly 58% being blank or prank calls — showing how much control room capacity is drained by noise rather than genuine incidents.</a:t>
            </a:r>
            <a:endParaRPr lang="en-US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UK's HMICFRS inspection found control rooms hampered by inconsistent systems, with rising demand leaving calls from vulnerable people unanswered or unassessed.</a:t>
            </a:r>
            <a:endParaRPr lang="en-US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 academic study (IJRRA, 2022) found India has just 1 police officer per 1,037 residents — far below the global average of 1:333 — with pending case investigations growing 22.51% between 2014-2018, alongside documented political interference and corruption.</a:t>
            </a:r>
            <a:endParaRPr lang="en-US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NCRB Crime in India 2024: 58.85 lakh cognisable crimes registered nationally, alongside 1.99 lakh traffic deaths.</a:t>
            </a:r>
            <a:endParaRPr lang="en-US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The Hindu · HMICFRS (UK) · IJRRA Journal · NCRB Crime in India 2024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384048"/>
            <a:ext cx="2084832" cy="6071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583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pain points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167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Three, ranked. Each needs evidence — not an assumption.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55648"/>
            <a:ext cx="10911535" cy="0"/>
          </a:xfrm>
          <a:prstGeom prst="line">
            <a:avLst/>
          </a:prstGeom>
          <a:noFill/>
          <a:ln w="12700">
            <a:solidFill>
              <a:srgbClr val="E3D9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993392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 1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3423818" cy="429768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41248" y="2560320"/>
            <a:ext cx="302148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depends entirely on a human noticing.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active monitoring layer that flags an incident the moment it happens; someone has to witness it, decide to act, and place a call.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Bengaluru's 112 helpline handled 26.92 lakh calls in 2024, with 58% blank or prank — genuine incidents compete with noise for bandwidth.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383938" y="1993392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 2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3938" y="2377440"/>
            <a:ext cx="3423818" cy="429768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4585106" y="2560320"/>
            <a:ext cx="302148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CCTV monitoring is exhausting and error-prone at scale.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rooms already have camera infrastructure, but a handful of operators watching dozens of feeds for hours will inevitably miss things.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HMICFRS's UK inspection found rising, complex demand can leave calls from vulnerable people unanswered or unassessed.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127797" y="1993392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 3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27797" y="2377440"/>
            <a:ext cx="3423818" cy="429768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8328965" y="2560320"/>
            <a:ext cx="302148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accountability and room for negligence or corruption.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timestamped, automated log of what was seen and when, there is no objective record to hold anyone accountable.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IJRRA (2022) documents corruption and political interference, compounded by an officer-to-population ratio of just 1:1,037.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384048"/>
            <a:ext cx="2084832" cy="6071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583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167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already exists, and where the gap is.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55648"/>
            <a:ext cx="10911535" cy="0"/>
          </a:xfrm>
          <a:prstGeom prst="line">
            <a:avLst/>
          </a:prstGeom>
          <a:noFill/>
          <a:ln w="12700">
            <a:solidFill>
              <a:srgbClr val="E3D9C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2011"/>
              </p:ext>
            </p:extLst>
          </p:nvPr>
        </p:nvGraphicFramePr>
        <p:xfrm>
          <a:off x="640080" y="2057400"/>
          <a:ext cx="10911535" cy="39319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b="1" dirty="0">
                          <a:solidFill>
                            <a:srgbClr val="7A7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1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b="1" dirty="0">
                          <a:solidFill>
                            <a:srgbClr val="7A7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1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b="1" dirty="0">
                          <a:solidFill>
                            <a:srgbClr val="7A7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1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b="1" dirty="0">
                          <a:solidFill>
                            <a:srgbClr val="7A7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B1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b="1" dirty="0">
                          <a:solidFill>
                            <a:srgbClr val="4A4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Staqu's JARVIS / SIMBA (Punjab, Nagpur Police)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1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4A4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facial recognition, ANPR, criminal-database search; proven at city scale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1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4A4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known criminals/vehicles against databases — not real-time behavioral anomaly detection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1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4A4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the act happening in real time, not just match faces afterward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B1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b="1" dirty="0">
                          <a:solidFill>
                            <a:srgbClr val="4A4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 Safe City Project (10,000+ FRT cameras)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4A4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camera network; fast face-matching (1M faces in 200ms)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4A4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Primarily FRT/surveillance-focused; raises privacy concerns; no auto-alert on behavioral anomalies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4A4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Purpose-built anomaly detection with a clear alert-to-police pipeline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b="1" dirty="0">
                          <a:solidFill>
                            <a:srgbClr val="4A4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Dial 100 / Namma 100 workflow (current 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4A4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judgment, verified identity, established police workflow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4A4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reactive; ~58% of Bengaluru's 112 calls are blank/prank; slow verify → locate → dispatch chain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400" dirty="0">
                          <a:solidFill>
                            <a:srgbClr val="4A4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the reporting delay — detect, locate, and alert before anyone has to dial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384048"/>
            <a:ext cx="2084832" cy="6071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583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167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how things work today and how they could work.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55648"/>
            <a:ext cx="10911535" cy="0"/>
          </a:xfrm>
          <a:prstGeom prst="line">
            <a:avLst/>
          </a:prstGeom>
          <a:noFill/>
          <a:ln w="12700">
            <a:solidFill>
              <a:srgbClr val="E3D9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993392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BROKEN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3423818" cy="3163824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41248" y="2560320"/>
            <a:ext cx="302148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100% reliant on a human noticing and calling in, and manual monitoring at scale is exhausting and error-prone.</a:t>
            </a:r>
            <a:endParaRPr lang="en-US" sz="1600" dirty="0"/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evidence in Section 04-05.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383938" y="1993392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BETTER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3938" y="2377440"/>
            <a:ext cx="3423818" cy="3163824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4585106" y="2560320"/>
            <a:ext cx="302148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reactive (someone reports after the fact) to proactive (the system flags the moment an anomaly happens) — with location, timestamp, and category attached automatically.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127797" y="1993392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OPPORTUNITY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27797" y="2377440"/>
            <a:ext cx="3423818" cy="3163824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8328965" y="2560320"/>
            <a:ext cx="302148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between existing FRT/ANPR-matching tools and the manual dial-100 process: an always-on AI layer that detects the anomaly itself — abuse, robbery, fire, accidents — not just identities, and alerts police and the public instantly.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384048"/>
            <a:ext cx="2084832" cy="6071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583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prioritisation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167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 first, and what each feature solves.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55648"/>
            <a:ext cx="10911535" cy="0"/>
          </a:xfrm>
          <a:prstGeom prst="line">
            <a:avLst/>
          </a:prstGeom>
          <a:noFill/>
          <a:ln w="12700">
            <a:solidFill>
              <a:srgbClr val="E3D9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993392"/>
            <a:ext cx="2535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2535860" cy="332462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41248" y="2560320"/>
            <a:ext cx="21335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Real-time anomaly detection (abuse, robbery, fire, accidents) from live camera feed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Auto-alert to police control room with location + timestamp + anomaly type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Severity / confidence scoring on each alert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 room dashboard to view flagged incidents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431972" y="1993392"/>
            <a:ext cx="2535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431972" y="2377440"/>
            <a:ext cx="2535860" cy="332462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3633140" y="2560320"/>
            <a:ext cx="21335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 push notification to police officers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23864" y="1993392"/>
            <a:ext cx="2535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23864" y="2377440"/>
            <a:ext cx="2535860" cy="332462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6425032" y="2560320"/>
            <a:ext cx="21335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Historical incident log and analytics — trends by location, time of day, and anomaly type to help plan patrols and resource allocation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015755" y="1993392"/>
            <a:ext cx="2535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015755" y="2377440"/>
            <a:ext cx="2535860" cy="3324620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9216923" y="2560320"/>
            <a:ext cx="21335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Facial recognition / suspect identification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Drone or mobile camera integration for areas outside fixed CCTV coverage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384048"/>
            <a:ext cx="2084832" cy="6071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583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definition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167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user, core problem, proposed solution, must-haves, and what you are not building.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55648"/>
            <a:ext cx="10911535" cy="0"/>
          </a:xfrm>
          <a:prstGeom prst="line">
            <a:avLst/>
          </a:prstGeom>
          <a:noFill/>
          <a:ln w="12700">
            <a:solidFill>
              <a:srgbClr val="E3D9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993392"/>
            <a:ext cx="20213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2021373" cy="3574786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41248" y="2560320"/>
            <a:ext cx="1619037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control room operators and officers monitoring live CCTV feeds.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862621" y="1993392"/>
            <a:ext cx="20213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862621" y="2377440"/>
            <a:ext cx="2021373" cy="3574786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3063789" y="2560320"/>
            <a:ext cx="1619037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public safety incidents depends entirely on a human noticing and calling it in.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085161" y="1993392"/>
            <a:ext cx="20213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85161" y="2377440"/>
            <a:ext cx="2021373" cy="3574786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286329" y="2560320"/>
            <a:ext cx="1619037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layer that watches CCTV feeds continuously, detects anomalies the moment they happen, and auto-alerts the control room with location, timestamp, and type — plus a mobile notification to the officer.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07702" y="1993392"/>
            <a:ext cx="20213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FEATURES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07702" y="2377440"/>
            <a:ext cx="2021373" cy="3574786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7508870" y="2560320"/>
            <a:ext cx="1619037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detection · Auto-alert with location + timestamp + type · Severity scoring · Control room dashboard · Mobile push notification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530243" y="1993392"/>
            <a:ext cx="20213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BUILDING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530243" y="2377440"/>
            <a:ext cx="2021373" cy="3574786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9731411" y="2560320"/>
            <a:ext cx="1619037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recognition, drone/mobile camera integration, and CCTNS integration — scoped to fixed-CCTV anomaly detection and alerting only.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384048"/>
            <a:ext cx="2084832" cy="6071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583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167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steps, ending in an outcome for the user.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55648"/>
            <a:ext cx="10911535" cy="0"/>
          </a:xfrm>
          <a:prstGeom prst="line">
            <a:avLst/>
          </a:prstGeom>
          <a:noFill/>
          <a:ln w="12700">
            <a:solidFill>
              <a:srgbClr val="E3D9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993392"/>
            <a:ext cx="19482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1948221" cy="3163824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822960" y="2560320"/>
            <a:ext cx="1582461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camera captures live feed of a public space.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588301" y="4343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880909" y="1993392"/>
            <a:ext cx="19482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880909" y="2377440"/>
            <a:ext cx="1948221" cy="3163824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063789" y="2560320"/>
            <a:ext cx="1582461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continuously analyzes the feed for anomalies.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829129" y="4343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121737" y="1993392"/>
            <a:ext cx="19482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121737" y="2377440"/>
            <a:ext cx="1948221" cy="3163824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304617" y="2560320"/>
            <a:ext cx="1582461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detected — system flags it and assigns location, timestamp, type, and severity.</a:t>
            </a:r>
            <a:endParaRPr lang="en-US" dirty="0"/>
          </a:p>
        </p:txBody>
      </p:sp>
      <p:sp>
        <p:nvSpPr>
          <p:cNvPr id="18" name="Text 15"/>
          <p:cNvSpPr txBox="1"/>
          <p:nvPr/>
        </p:nvSpPr>
        <p:spPr>
          <a:xfrm>
            <a:off x="7069958" y="4343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362566" y="1993392"/>
            <a:ext cx="19482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362566" y="2377440"/>
            <a:ext cx="1948221" cy="3163824"/>
          </a:xfrm>
          <a:prstGeom prst="rect">
            <a:avLst/>
          </a:prstGeom>
          <a:solidFill>
            <a:srgbClr val="F3ECDF"/>
          </a:solidFill>
          <a:ln w="12700">
            <a:solidFill>
              <a:srgbClr val="D9CFC0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7545446" y="2560320"/>
            <a:ext cx="1582461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dashboard updates and a mobile push notification is sent to the nearest officer.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310787" y="4343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603395" y="1993392"/>
            <a:ext cx="19482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603395" y="2377440"/>
            <a:ext cx="1948221" cy="3163824"/>
          </a:xfrm>
          <a:prstGeom prst="rect">
            <a:avLst/>
          </a:prstGeom>
          <a:solidFill>
            <a:srgbClr val="FBEAE3"/>
          </a:solidFill>
          <a:ln w="19050">
            <a:solidFill>
              <a:srgbClr val="D7563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786275" y="2560320"/>
            <a:ext cx="1582461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are alerted and dispatched within seconds of the incident occurring — no one had to call it in.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384048"/>
            <a:ext cx="2084832" cy="6071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11 &amp; 12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583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one-liners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167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both sentences. No more than one line each.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55648"/>
            <a:ext cx="10911535" cy="0"/>
          </a:xfrm>
          <a:prstGeom prst="line">
            <a:avLst/>
          </a:prstGeom>
          <a:noFill/>
          <a:ln w="12700">
            <a:solidFill>
              <a:srgbClr val="E3D9C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148840"/>
            <a:ext cx="54864" cy="1737360"/>
          </a:xfrm>
          <a:prstGeom prst="rect">
            <a:avLst/>
          </a:prstGeom>
          <a:solidFill>
            <a:srgbClr val="D7563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96112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PROBLEM STATEMENT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2478024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B1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solving </a:t>
            </a:r>
            <a:r>
              <a:rPr lang="en-US" sz="2000" b="1" dirty="0">
                <a:solidFill>
                  <a:srgbClr val="D75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detection and reporting of public safety incidents</a:t>
            </a:r>
            <a:r>
              <a:rPr lang="en-US" sz="2000" dirty="0">
                <a:solidFill>
                  <a:srgbClr val="2B1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for </a:t>
            </a:r>
            <a:r>
              <a:rPr lang="en-US" sz="2000" b="1" dirty="0">
                <a:solidFill>
                  <a:srgbClr val="D75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police control room operators</a:t>
            </a:r>
            <a:r>
              <a:rPr lang="en-US" sz="2000" dirty="0">
                <a:solidFill>
                  <a:srgbClr val="2B1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because </a:t>
            </a:r>
            <a:r>
              <a:rPr lang="en-US" sz="2000" b="1" dirty="0">
                <a:solidFill>
                  <a:srgbClr val="D75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CCTV monitoring is exhausting, error-prone, and leaves most incidents dependent on someone noticing and calling it in.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40080" y="4160520"/>
            <a:ext cx="54864" cy="1737360"/>
          </a:xfrm>
          <a:prstGeom prst="rect">
            <a:avLst/>
          </a:prstGeom>
          <a:solidFill>
            <a:srgbClr val="D7563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96112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D75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PRODUCT HYPOTHESIS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4489704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B1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believe that </a:t>
            </a:r>
            <a:r>
              <a:rPr lang="en-US" sz="2000" b="1" dirty="0">
                <a:solidFill>
                  <a:srgbClr val="D75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real-time AI anomaly detection layer on existing CCTV feeds</a:t>
            </a:r>
            <a:r>
              <a:rPr lang="en-US" sz="2000" dirty="0">
                <a:solidFill>
                  <a:srgbClr val="2B1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will help </a:t>
            </a:r>
            <a:r>
              <a:rPr lang="en-US" sz="2000" b="1" dirty="0">
                <a:solidFill>
                  <a:srgbClr val="D75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police control rooms</a:t>
            </a:r>
            <a:r>
              <a:rPr lang="en-US" sz="2000" dirty="0">
                <a:solidFill>
                  <a:srgbClr val="2B1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achieve </a:t>
            </a:r>
            <a:r>
              <a:rPr lang="en-US" sz="2000" b="1" dirty="0">
                <a:solidFill>
                  <a:srgbClr val="D756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more reliable incident detection and response, with a transparent, timestamped record for every alert.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1814</Words>
  <Application>Microsoft Office PowerPoint</Application>
  <PresentationFormat>Widescreen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VIDISH MANNUR</cp:lastModifiedBy>
  <cp:revision>5</cp:revision>
  <dcterms:created xsi:type="dcterms:W3CDTF">2026-09-05T08:26:48Z</dcterms:created>
  <dcterms:modified xsi:type="dcterms:W3CDTF">2026-09-05T09:10:18Z</dcterms:modified>
</cp:coreProperties>
</file>