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uraghavendra omkar" userId="59c0cae076dcb472" providerId="LiveId" clId="{3A46E92E-7678-4045-84DF-85BB66AC9C21}"/>
    <pc:docChg chg="modSld">
      <pc:chgData name="Gururaghavendra omkar" userId="59c0cae076dcb472" providerId="LiveId" clId="{3A46E92E-7678-4045-84DF-85BB66AC9C21}" dt="2026-09-06T06:32:02.820" v="5" actId="120"/>
      <pc:docMkLst>
        <pc:docMk/>
      </pc:docMkLst>
      <pc:sldChg chg="modSp mod">
        <pc:chgData name="Gururaghavendra omkar" userId="59c0cae076dcb472" providerId="LiveId" clId="{3A46E92E-7678-4045-84DF-85BB66AC9C21}" dt="2026-09-06T06:32:02.820" v="5" actId="120"/>
        <pc:sldMkLst>
          <pc:docMk/>
          <pc:sldMk cId="0" sldId="264"/>
        </pc:sldMkLst>
        <pc:spChg chg="mod">
          <ac:chgData name="Gururaghavendra omkar" userId="59c0cae076dcb472" providerId="LiveId" clId="{3A46E92E-7678-4045-84DF-85BB66AC9C21}" dt="2026-09-06T06:32:02.820" v="5" actId="120"/>
          <ac:spMkLst>
            <pc:docMk/>
            <pc:sldMk cId="0" sldId="264"/>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643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“Our project is MadhvaMinds, an AI-powered surveillance incident detection platform. The goal is to reduce the time required to notice and review suspicious events in long surveillance videos.”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core problem is not recording video; it is finding the important moment inside a long recording. Our system turns the video into model-scored temporal segments and makes those moments easier for a human reviewer to inspect.”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six lines as one sentence. Emphasize the differentiation: the system is designed around temporal incident review, not just a binary label or a raw model score.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“The important interaction is the last part: when an incident is selected, the player seeks to the model-generated timestamp instead of forcing the operator to search manually.”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MUST features define the current demo. The in-video overlay is the next important UI enhancement because it connects model output directly to the playback experience.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“These four screens represent the intended journey: choose a dataset video, play it, see the model result synchronized with the video, and review the incident list.”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technical explanation: “We are not feeding raw RGB frames into the current classifier. The trained checkpoint expects 2048-dimensional I3D feature vectors. The current model is binary: normal versus fighting. The UI should never claim abuse, explosion or other classes unless a multiclass model is actually trained and validated.”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precise: “The trained checkpoint and feature dataset are the verified core. Some deployment and persistence choices are still open. We are intentionally not presenting an unimplemented cloud stack as if it already exists.”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useful if asked “What exactly is working?” Distinguish the current verified binary classifier demo from the future multiclass and live-camera versions.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If asked about user research: “We have not documented a formal external-user study yet, so we are not claiming one. Our current validation evidence is model metrics plus iterative technical/UI testing.”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the official UCF-Crime research motivation: practical surveillance anomaly detection should signal anomalous activity and identify its time window. Our product translates that idea into an operator-facing review flow.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Architecture explanation: “The verified training data is pre-extracted I3D features. The current classifier consumes 2048-D temporal features. For true end-to-end raw MP4 inference, an I3D extraction stage must produce the same compatible feature representation; that path is therefore shown as an integration step rather than being overstated as complete.”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Rectangle 2"/>
          <p:cNvSpPr/>
          <p:nvPr/>
        </p:nvSpPr>
        <p:spPr>
          <a:xfrm>
            <a:off x="475488" y="1325880"/>
            <a:ext cx="1417320" cy="32004"/>
          </a:xfrm>
          <a:prstGeom prst="rect">
            <a:avLst/>
          </a:prstGeom>
          <a:solidFill>
            <a:srgbClr val="E85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591056"/>
            <a:ext cx="4754880" cy="274320"/>
          </a:xfrm>
          <a:prstGeom prst="rect">
            <a:avLst/>
          </a:prstGeom>
          <a:noFill/>
        </p:spPr>
        <p:txBody>
          <a:bodyPr wrap="none" lIns="18288" tIns="18288" rIns="18288" bIns="18288" anchor="t">
            <a:spAutoFit/>
          </a:bodyPr>
          <a:lstStyle/>
          <a:p>
            <a:pPr algn="l"/>
            <a:r>
              <a:rPr sz="1200" b="1" i="0">
                <a:solidFill>
                  <a:srgbClr val="E85B30"/>
                </a:solidFill>
                <a:latin typeface="Aptos"/>
              </a:rPr>
              <a:t>PHASE 2 — IDEATION &amp; PLANNING</a:t>
            </a:r>
          </a:p>
        </p:txBody>
      </p:sp>
      <p:sp>
        <p:nvSpPr>
          <p:cNvPr id="5" name="TextBox 4"/>
          <p:cNvSpPr txBox="1"/>
          <p:nvPr/>
        </p:nvSpPr>
        <p:spPr>
          <a:xfrm>
            <a:off x="475488" y="1975104"/>
            <a:ext cx="6858000" cy="658368"/>
          </a:xfrm>
          <a:prstGeom prst="rect">
            <a:avLst/>
          </a:prstGeom>
          <a:noFill/>
        </p:spPr>
        <p:txBody>
          <a:bodyPr wrap="none" lIns="18288" tIns="18288" rIns="18288" bIns="18288" anchor="t">
            <a:spAutoFit/>
          </a:bodyPr>
          <a:lstStyle/>
          <a:p>
            <a:pPr algn="l"/>
            <a:r>
              <a:rPr sz="3900" b="1" i="0">
                <a:solidFill>
                  <a:srgbClr val="1E1D1C"/>
                </a:solidFill>
                <a:latin typeface="Aptos"/>
              </a:rPr>
              <a:t>MadhvaMinds</a:t>
            </a:r>
          </a:p>
        </p:txBody>
      </p:sp>
      <p:sp>
        <p:nvSpPr>
          <p:cNvPr id="6" name="TextBox 5"/>
          <p:cNvSpPr txBox="1"/>
          <p:nvPr/>
        </p:nvSpPr>
        <p:spPr>
          <a:xfrm>
            <a:off x="502920" y="2670048"/>
            <a:ext cx="7680960" cy="411480"/>
          </a:xfrm>
          <a:prstGeom prst="rect">
            <a:avLst/>
          </a:prstGeom>
          <a:noFill/>
        </p:spPr>
        <p:txBody>
          <a:bodyPr wrap="none" lIns="18288" tIns="18288" rIns="18288" bIns="18288" anchor="t">
            <a:spAutoFit/>
          </a:bodyPr>
          <a:lstStyle/>
          <a:p>
            <a:pPr algn="l"/>
            <a:r>
              <a:rPr sz="2000" b="0" i="0">
                <a:solidFill>
                  <a:srgbClr val="7D7B79"/>
                </a:solidFill>
                <a:latin typeface="Aptos"/>
              </a:rPr>
              <a:t>AI-Powered Surveillance Incident Detection</a:t>
            </a:r>
          </a:p>
        </p:txBody>
      </p:sp>
      <p:sp>
        <p:nvSpPr>
          <p:cNvPr id="7" name="Rectangle 6"/>
          <p:cNvSpPr/>
          <p:nvPr/>
        </p:nvSpPr>
        <p:spPr>
          <a:xfrm>
            <a:off x="475488" y="5623560"/>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5833872"/>
            <a:ext cx="2011680" cy="201168"/>
          </a:xfrm>
          <a:prstGeom prst="rect">
            <a:avLst/>
          </a:prstGeom>
          <a:noFill/>
        </p:spPr>
        <p:txBody>
          <a:bodyPr wrap="none" lIns="18288" tIns="18288" rIns="18288" bIns="18288" anchor="t">
            <a:spAutoFit/>
          </a:bodyPr>
          <a:lstStyle/>
          <a:p>
            <a:pPr algn="l"/>
            <a:r>
              <a:rPr sz="900" b="1" i="0">
                <a:solidFill>
                  <a:srgbClr val="7D7B79"/>
                </a:solidFill>
                <a:latin typeface="Aptos"/>
              </a:rPr>
              <a:t>TEAM MEMBERS</a:t>
            </a:r>
          </a:p>
        </p:txBody>
      </p:sp>
      <p:sp>
        <p:nvSpPr>
          <p:cNvPr id="9" name="TextBox 8"/>
          <p:cNvSpPr txBox="1"/>
          <p:nvPr/>
        </p:nvSpPr>
        <p:spPr>
          <a:xfrm>
            <a:off x="475488" y="6108192"/>
            <a:ext cx="1611082" cy="544765"/>
          </a:xfrm>
          <a:prstGeom prst="rect">
            <a:avLst/>
          </a:prstGeom>
          <a:noFill/>
        </p:spPr>
        <p:txBody>
          <a:bodyPr wrap="none" lIns="18288" tIns="18288" rIns="18288" bIns="18288" anchor="t">
            <a:spAutoFit/>
          </a:bodyPr>
          <a:lstStyle/>
          <a:p>
            <a:pPr algn="l"/>
            <a:r>
              <a:rPr lang="en-IN" sz="1100" dirty="0">
                <a:solidFill>
                  <a:srgbClr val="1E1D1C"/>
                </a:solidFill>
                <a:latin typeface="Aptos"/>
              </a:rPr>
              <a:t>Amruta Kulkarni</a:t>
            </a:r>
            <a:br>
              <a:rPr lang="en-IN" sz="1100" dirty="0">
                <a:solidFill>
                  <a:srgbClr val="1E1D1C"/>
                </a:solidFill>
                <a:latin typeface="Aptos"/>
              </a:rPr>
            </a:br>
            <a:r>
              <a:rPr lang="en-IN" sz="1100" dirty="0">
                <a:solidFill>
                  <a:srgbClr val="1E1D1C"/>
                </a:solidFill>
                <a:latin typeface="Aptos"/>
              </a:rPr>
              <a:t>Guru Raghavendra Omkar</a:t>
            </a:r>
            <a:br>
              <a:rPr lang="en-IN" sz="1100" dirty="0">
                <a:solidFill>
                  <a:srgbClr val="1E1D1C"/>
                </a:solidFill>
                <a:latin typeface="Aptos"/>
              </a:rPr>
            </a:br>
            <a:r>
              <a:rPr lang="en-IN" sz="1100" dirty="0">
                <a:solidFill>
                  <a:srgbClr val="1E1D1C"/>
                </a:solidFill>
                <a:latin typeface="Aptos"/>
              </a:rPr>
              <a:t>Vidish Mannur</a:t>
            </a:r>
            <a:endParaRPr sz="1100" b="0" i="0" dirty="0">
              <a:solidFill>
                <a:srgbClr val="1E1D1C"/>
              </a:solidFill>
              <a:latin typeface="Aptos"/>
            </a:endParaRPr>
          </a:p>
        </p:txBody>
      </p:sp>
      <p:sp>
        <p:nvSpPr>
          <p:cNvPr id="10" name="TextBox 9"/>
          <p:cNvSpPr txBox="1"/>
          <p:nvPr/>
        </p:nvSpPr>
        <p:spPr>
          <a:xfrm>
            <a:off x="3310128" y="5833872"/>
            <a:ext cx="2011680" cy="201168"/>
          </a:xfrm>
          <a:prstGeom prst="rect">
            <a:avLst/>
          </a:prstGeom>
          <a:noFill/>
        </p:spPr>
        <p:txBody>
          <a:bodyPr wrap="none" lIns="18288" tIns="18288" rIns="18288" bIns="18288" anchor="t">
            <a:spAutoFit/>
          </a:bodyPr>
          <a:lstStyle/>
          <a:p>
            <a:pPr algn="l"/>
            <a:r>
              <a:rPr sz="900" b="1" i="0">
                <a:solidFill>
                  <a:srgbClr val="7D7B79"/>
                </a:solidFill>
                <a:latin typeface="Aptos"/>
              </a:rPr>
              <a:t>MENTOR</a:t>
            </a:r>
          </a:p>
        </p:txBody>
      </p:sp>
      <p:sp>
        <p:nvSpPr>
          <p:cNvPr id="11" name="TextBox 10"/>
          <p:cNvSpPr txBox="1"/>
          <p:nvPr/>
        </p:nvSpPr>
        <p:spPr>
          <a:xfrm>
            <a:off x="3310128" y="6108192"/>
            <a:ext cx="806375" cy="206210"/>
          </a:xfrm>
          <a:prstGeom prst="rect">
            <a:avLst/>
          </a:prstGeom>
          <a:noFill/>
        </p:spPr>
        <p:txBody>
          <a:bodyPr wrap="none" lIns="18288" tIns="18288" rIns="18288" bIns="18288" anchor="t">
            <a:spAutoFit/>
          </a:bodyPr>
          <a:lstStyle/>
          <a:p>
            <a:pPr algn="l"/>
            <a:r>
              <a:rPr lang="en-IN" sz="1100" b="0" i="0" dirty="0">
                <a:solidFill>
                  <a:srgbClr val="1E1D1C"/>
                </a:solidFill>
                <a:latin typeface="Aptos"/>
              </a:rPr>
              <a:t>Mr. Vikram R</a:t>
            </a:r>
            <a:endParaRPr sz="1100" b="0" i="0" dirty="0">
              <a:solidFill>
                <a:srgbClr val="1E1D1C"/>
              </a:solidFill>
              <a:latin typeface="Aptos"/>
            </a:endParaRPr>
          </a:p>
        </p:txBody>
      </p:sp>
      <p:sp>
        <p:nvSpPr>
          <p:cNvPr id="12" name="TextBox 11"/>
          <p:cNvSpPr txBox="1"/>
          <p:nvPr/>
        </p:nvSpPr>
        <p:spPr>
          <a:xfrm>
            <a:off x="6144768" y="5833872"/>
            <a:ext cx="2011680" cy="201168"/>
          </a:xfrm>
          <a:prstGeom prst="rect">
            <a:avLst/>
          </a:prstGeom>
          <a:noFill/>
        </p:spPr>
        <p:txBody>
          <a:bodyPr wrap="none" lIns="18288" tIns="18288" rIns="18288" bIns="18288" anchor="t">
            <a:spAutoFit/>
          </a:bodyPr>
          <a:lstStyle/>
          <a:p>
            <a:pPr algn="l"/>
            <a:r>
              <a:rPr sz="900" b="1" i="0">
                <a:solidFill>
                  <a:srgbClr val="7D7B79"/>
                </a:solidFill>
                <a:latin typeface="Aptos"/>
              </a:rPr>
              <a:t>DATE</a:t>
            </a:r>
          </a:p>
        </p:txBody>
      </p:sp>
      <p:sp>
        <p:nvSpPr>
          <p:cNvPr id="13" name="TextBox 12"/>
          <p:cNvSpPr txBox="1"/>
          <p:nvPr/>
        </p:nvSpPr>
        <p:spPr>
          <a:xfrm>
            <a:off x="6144768" y="6108192"/>
            <a:ext cx="719812" cy="206210"/>
          </a:xfrm>
          <a:prstGeom prst="rect">
            <a:avLst/>
          </a:prstGeom>
          <a:noFill/>
        </p:spPr>
        <p:txBody>
          <a:bodyPr wrap="none" lIns="18288" tIns="18288" rIns="18288" bIns="18288" anchor="t">
            <a:spAutoFit/>
          </a:bodyPr>
          <a:lstStyle/>
          <a:p>
            <a:pPr algn="l"/>
            <a:r>
              <a:rPr sz="1100" b="0" i="0" dirty="0">
                <a:solidFill>
                  <a:srgbClr val="1E1D1C"/>
                </a:solidFill>
                <a:latin typeface="Aptos"/>
              </a:rPr>
              <a:t>0</a:t>
            </a:r>
            <a:r>
              <a:rPr lang="en-IN" sz="1100" b="0" i="0" dirty="0">
                <a:solidFill>
                  <a:srgbClr val="1E1D1C"/>
                </a:solidFill>
                <a:latin typeface="Aptos"/>
              </a:rPr>
              <a:t>5</a:t>
            </a:r>
            <a:r>
              <a:rPr sz="1100" b="0" i="0" dirty="0">
                <a:solidFill>
                  <a:srgbClr val="1E1D1C"/>
                </a:solidFill>
                <a:latin typeface="Aptos"/>
              </a:rPr>
              <a:t>.09.2026</a:t>
            </a:r>
          </a:p>
        </p:txBody>
      </p:sp>
      <p:sp>
        <p:nvSpPr>
          <p:cNvPr id="14" name="TextBox 13"/>
          <p:cNvSpPr txBox="1"/>
          <p:nvPr/>
        </p:nvSpPr>
        <p:spPr>
          <a:xfrm>
            <a:off x="8979408" y="5833872"/>
            <a:ext cx="2011680" cy="201168"/>
          </a:xfrm>
          <a:prstGeom prst="rect">
            <a:avLst/>
          </a:prstGeom>
          <a:noFill/>
        </p:spPr>
        <p:txBody>
          <a:bodyPr wrap="none" lIns="18288" tIns="18288" rIns="18288" bIns="18288" anchor="t">
            <a:spAutoFit/>
          </a:bodyPr>
          <a:lstStyle/>
          <a:p>
            <a:pPr algn="l"/>
            <a:r>
              <a:rPr sz="900" b="1" i="0">
                <a:solidFill>
                  <a:srgbClr val="7D7B79"/>
                </a:solidFill>
                <a:latin typeface="Aptos"/>
              </a:rPr>
              <a:t>REPOSITORY</a:t>
            </a:r>
          </a:p>
        </p:txBody>
      </p:sp>
      <p:sp>
        <p:nvSpPr>
          <p:cNvPr id="15" name="TextBox 14"/>
          <p:cNvSpPr txBox="1"/>
          <p:nvPr/>
        </p:nvSpPr>
        <p:spPr>
          <a:xfrm>
            <a:off x="8979408" y="6108192"/>
            <a:ext cx="2514600" cy="256032"/>
          </a:xfrm>
          <a:prstGeom prst="rect">
            <a:avLst/>
          </a:prstGeom>
          <a:noFill/>
        </p:spPr>
        <p:txBody>
          <a:bodyPr wrap="none" lIns="18288" tIns="18288" rIns="18288" bIns="18288" anchor="t">
            <a:spAutoFit/>
          </a:bodyPr>
          <a:lstStyle/>
          <a:p>
            <a:pPr algn="l"/>
            <a:r>
              <a:rPr sz="1100" b="0" i="0">
                <a:solidFill>
                  <a:srgbClr val="1E1D1C"/>
                </a:solidFill>
                <a:latin typeface="Aptos"/>
              </a:rPr>
              <a:t>MadhvaMinds • VS Code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01</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Solution</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What are we building, who is it for, and what does it solve?</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3456432" cy="3977639"/>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0824"/>
            <a:ext cx="2346540" cy="283154"/>
          </a:xfrm>
          <a:prstGeom prst="rect">
            <a:avLst/>
          </a:prstGeom>
          <a:noFill/>
        </p:spPr>
        <p:txBody>
          <a:bodyPr wrap="none" lIns="18288" tIns="18288" rIns="18288" bIns="18288" anchor="t">
            <a:spAutoFit/>
          </a:bodyPr>
          <a:lstStyle/>
          <a:p>
            <a:pPr algn="l"/>
            <a:r>
              <a:rPr sz="1600" b="1" i="0">
                <a:solidFill>
                  <a:srgbClr val="E85B30"/>
                </a:solidFill>
                <a:latin typeface="Aptos"/>
              </a:rPr>
              <a:t>WHAT WE ARE BUILDING</a:t>
            </a:r>
          </a:p>
        </p:txBody>
      </p:sp>
      <p:sp>
        <p:nvSpPr>
          <p:cNvPr id="9" name="TextBox 8"/>
          <p:cNvSpPr txBox="1"/>
          <p:nvPr/>
        </p:nvSpPr>
        <p:spPr>
          <a:xfrm>
            <a:off x="640081" y="2386584"/>
            <a:ext cx="3127248" cy="2499146"/>
          </a:xfrm>
          <a:prstGeom prst="rect">
            <a:avLst/>
          </a:prstGeom>
          <a:noFill/>
        </p:spPr>
        <p:txBody>
          <a:bodyPr wrap="square" lIns="18288" tIns="18288" rIns="18288" bIns="18288" anchor="t">
            <a:spAutoFit/>
          </a:bodyPr>
          <a:lstStyle/>
          <a:p>
            <a:pPr algn="l"/>
            <a:r>
              <a:rPr sz="1600" b="0" i="0" dirty="0" err="1">
                <a:solidFill>
                  <a:srgbClr val="1E1D1C"/>
                </a:solidFill>
                <a:latin typeface="Aptos"/>
              </a:rPr>
              <a:t>MadhvaMinds</a:t>
            </a:r>
            <a:r>
              <a:rPr sz="1600" b="0" i="0" dirty="0">
                <a:solidFill>
                  <a:srgbClr val="1E1D1C"/>
                </a:solidFill>
                <a:latin typeface="Aptos"/>
              </a:rPr>
              <a:t> is a surveillance-video intelligence</a:t>
            </a:r>
            <a:r>
              <a:rPr lang="en-IN" sz="1600" dirty="0">
                <a:solidFill>
                  <a:srgbClr val="1E1D1C"/>
                </a:solidFill>
                <a:latin typeface="Aptos"/>
              </a:rPr>
              <a:t> </a:t>
            </a:r>
            <a:r>
              <a:rPr sz="1600" b="0" i="0" dirty="0">
                <a:solidFill>
                  <a:srgbClr val="1E1D1C"/>
                </a:solidFill>
                <a:latin typeface="Aptos"/>
              </a:rPr>
              <a:t>dashboard that analyzes video segments with a trained deep-learning classifier and presents incident alerts on a reviewable timeline.
The current model focuses on NORMAL vs FIGHTING DETECTED using pre-extracted I3D features.</a:t>
            </a:r>
          </a:p>
        </p:txBody>
      </p:sp>
      <p:sp>
        <p:nvSpPr>
          <p:cNvPr id="10" name="Rectangle 9"/>
          <p:cNvSpPr/>
          <p:nvPr/>
        </p:nvSpPr>
        <p:spPr>
          <a:xfrm>
            <a:off x="4233672" y="1874519"/>
            <a:ext cx="3456432" cy="3977639"/>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98264" y="2020824"/>
            <a:ext cx="1393651" cy="283154"/>
          </a:xfrm>
          <a:prstGeom prst="rect">
            <a:avLst/>
          </a:prstGeom>
          <a:noFill/>
        </p:spPr>
        <p:txBody>
          <a:bodyPr wrap="none" lIns="18288" tIns="18288" rIns="18288" bIns="18288" anchor="t">
            <a:spAutoFit/>
          </a:bodyPr>
          <a:lstStyle/>
          <a:p>
            <a:pPr algn="l"/>
            <a:r>
              <a:rPr sz="1600" b="1" i="0">
                <a:solidFill>
                  <a:srgbClr val="E85B30"/>
                </a:solidFill>
                <a:latin typeface="Aptos"/>
              </a:rPr>
              <a:t>WHO IT IS FOR</a:t>
            </a:r>
          </a:p>
        </p:txBody>
      </p:sp>
      <p:sp>
        <p:nvSpPr>
          <p:cNvPr id="12" name="TextBox 11"/>
          <p:cNvSpPr txBox="1"/>
          <p:nvPr/>
        </p:nvSpPr>
        <p:spPr>
          <a:xfrm>
            <a:off x="4398264" y="2386584"/>
            <a:ext cx="3127248" cy="2499146"/>
          </a:xfrm>
          <a:prstGeom prst="rect">
            <a:avLst/>
          </a:prstGeom>
          <a:noFill/>
        </p:spPr>
        <p:txBody>
          <a:bodyPr wrap="square" lIns="18288" tIns="18288" rIns="18288" bIns="18288" anchor="t">
            <a:spAutoFit/>
          </a:bodyPr>
          <a:lstStyle/>
          <a:p>
            <a:pPr algn="l"/>
            <a:r>
              <a:rPr sz="1600" b="0" i="0" dirty="0">
                <a:solidFill>
                  <a:srgbClr val="1E1D1C"/>
                </a:solidFill>
                <a:latin typeface="Aptos"/>
              </a:rPr>
              <a:t>Primary users:
• Security / surveillance operators
• Campus and facility monitoring teams
• Reviewers who need to inspect long CCTV recordings quickly
The product is designed for human-in-the-loop review, not autonomous enforcement.</a:t>
            </a:r>
          </a:p>
        </p:txBody>
      </p:sp>
      <p:sp>
        <p:nvSpPr>
          <p:cNvPr id="13" name="Rectangle 12"/>
          <p:cNvSpPr/>
          <p:nvPr/>
        </p:nvSpPr>
        <p:spPr>
          <a:xfrm>
            <a:off x="7991856" y="1874519"/>
            <a:ext cx="3712463" cy="3977639"/>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2020824"/>
            <a:ext cx="1941109" cy="283154"/>
          </a:xfrm>
          <a:prstGeom prst="rect">
            <a:avLst/>
          </a:prstGeom>
          <a:noFill/>
        </p:spPr>
        <p:txBody>
          <a:bodyPr wrap="none" lIns="18288" tIns="18288" rIns="18288" bIns="18288" anchor="t">
            <a:spAutoFit/>
          </a:bodyPr>
          <a:lstStyle/>
          <a:p>
            <a:pPr algn="l"/>
            <a:r>
              <a:rPr sz="1600" b="1" i="0">
                <a:solidFill>
                  <a:srgbClr val="E85B30"/>
                </a:solidFill>
                <a:latin typeface="Aptos"/>
              </a:rPr>
              <a:t>PROBLEM IT SOLVES</a:t>
            </a:r>
          </a:p>
        </p:txBody>
      </p:sp>
      <p:sp>
        <p:nvSpPr>
          <p:cNvPr id="15" name="TextBox 14"/>
          <p:cNvSpPr txBox="1"/>
          <p:nvPr/>
        </p:nvSpPr>
        <p:spPr>
          <a:xfrm>
            <a:off x="8156448" y="2386584"/>
            <a:ext cx="3383279" cy="2499146"/>
          </a:xfrm>
          <a:prstGeom prst="rect">
            <a:avLst/>
          </a:prstGeom>
          <a:noFill/>
        </p:spPr>
        <p:txBody>
          <a:bodyPr wrap="square" lIns="18288" tIns="18288" rIns="18288" bIns="18288" anchor="t">
            <a:spAutoFit/>
          </a:bodyPr>
          <a:lstStyle/>
          <a:p>
            <a:pPr algn="l"/>
            <a:r>
              <a:rPr sz="1600" b="0" i="0" dirty="0">
                <a:solidFill>
                  <a:srgbClr val="1E1D1C"/>
                </a:solidFill>
                <a:latin typeface="Aptos"/>
              </a:rPr>
              <a:t>Long surveillance recordings are expensive to monitor manually. A reviewer may need to search through hours of footage before finding a suspicious segment.
</a:t>
            </a:r>
            <a:r>
              <a:rPr sz="1600" b="0" i="0" dirty="0" err="1">
                <a:solidFill>
                  <a:srgbClr val="1E1D1C"/>
                </a:solidFill>
                <a:latin typeface="Aptos"/>
              </a:rPr>
              <a:t>MadhvaMinds</a:t>
            </a:r>
            <a:r>
              <a:rPr sz="1600" b="0" i="0" dirty="0">
                <a:solidFill>
                  <a:srgbClr val="1E1D1C"/>
                </a:solidFill>
                <a:latin typeface="Aptos"/>
              </a:rPr>
              <a:t> surfaces model-detected incident windows so the reviewer can jump directly to the relevant timestamp.</a:t>
            </a:r>
          </a:p>
        </p:txBody>
      </p:sp>
      <p:sp>
        <p:nvSpPr>
          <p:cNvPr id="16" name="TextBox 15"/>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02</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Value proposition</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Six lines that read as one sentence.</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56231"/>
            <a:ext cx="11228832" cy="621792"/>
          </a:xfrm>
          <a:prstGeom prst="rect">
            <a:avLst/>
          </a:prstGeom>
          <a:solidFill>
            <a:srgbClr val="E9EFF1"/>
          </a:solidFill>
          <a:ln>
            <a:solidFill>
              <a:srgbClr val="EF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002536"/>
            <a:ext cx="338298" cy="283154"/>
          </a:xfrm>
          <a:prstGeom prst="rect">
            <a:avLst/>
          </a:prstGeom>
          <a:noFill/>
        </p:spPr>
        <p:txBody>
          <a:bodyPr wrap="none" lIns="18288" tIns="18288" rIns="18288" bIns="18288" anchor="t">
            <a:spAutoFit/>
          </a:bodyPr>
          <a:lstStyle/>
          <a:p>
            <a:pPr algn="l"/>
            <a:r>
              <a:rPr sz="1600" b="1" i="0">
                <a:solidFill>
                  <a:srgbClr val="E85B30"/>
                </a:solidFill>
                <a:latin typeface="Aptos"/>
              </a:rPr>
              <a:t>For</a:t>
            </a:r>
          </a:p>
        </p:txBody>
      </p:sp>
      <p:sp>
        <p:nvSpPr>
          <p:cNvPr id="9" name="TextBox 8"/>
          <p:cNvSpPr txBox="1"/>
          <p:nvPr/>
        </p:nvSpPr>
        <p:spPr>
          <a:xfrm>
            <a:off x="1874519" y="2002536"/>
            <a:ext cx="3136949" cy="283154"/>
          </a:xfrm>
          <a:prstGeom prst="rect">
            <a:avLst/>
          </a:prstGeom>
          <a:noFill/>
        </p:spPr>
        <p:txBody>
          <a:bodyPr wrap="none" lIns="18288" tIns="18288" rIns="18288" bIns="18288" anchor="t">
            <a:spAutoFit/>
          </a:bodyPr>
          <a:lstStyle/>
          <a:p>
            <a:pPr algn="l"/>
            <a:r>
              <a:rPr sz="1600" b="0" i="0" dirty="0">
                <a:solidFill>
                  <a:srgbClr val="1E1D1C"/>
                </a:solidFill>
                <a:latin typeface="Aptos"/>
              </a:rPr>
              <a:t>security and surveillance operators</a:t>
            </a:r>
          </a:p>
        </p:txBody>
      </p:sp>
      <p:sp>
        <p:nvSpPr>
          <p:cNvPr id="10" name="Rectangle 9"/>
          <p:cNvSpPr/>
          <p:nvPr/>
        </p:nvSpPr>
        <p:spPr>
          <a:xfrm>
            <a:off x="475488" y="2514600"/>
            <a:ext cx="11228832" cy="621792"/>
          </a:xfrm>
          <a:prstGeom prst="rect">
            <a:avLst/>
          </a:prstGeom>
          <a:solidFill>
            <a:srgbClr val="EFF2F3"/>
          </a:solidFill>
          <a:ln>
            <a:solidFill>
              <a:srgbClr val="EF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660904"/>
            <a:ext cx="464935" cy="283154"/>
          </a:xfrm>
          <a:prstGeom prst="rect">
            <a:avLst/>
          </a:prstGeom>
          <a:noFill/>
        </p:spPr>
        <p:txBody>
          <a:bodyPr wrap="none" lIns="18288" tIns="18288" rIns="18288" bIns="18288" anchor="t">
            <a:spAutoFit/>
          </a:bodyPr>
          <a:lstStyle/>
          <a:p>
            <a:pPr algn="l"/>
            <a:r>
              <a:rPr sz="1600" b="1" i="0">
                <a:solidFill>
                  <a:srgbClr val="E85B30"/>
                </a:solidFill>
                <a:latin typeface="Aptos"/>
              </a:rPr>
              <a:t>Who</a:t>
            </a:r>
          </a:p>
        </p:txBody>
      </p:sp>
      <p:sp>
        <p:nvSpPr>
          <p:cNvPr id="12" name="TextBox 11"/>
          <p:cNvSpPr txBox="1"/>
          <p:nvPr/>
        </p:nvSpPr>
        <p:spPr>
          <a:xfrm>
            <a:off x="1874519" y="2660904"/>
            <a:ext cx="5495543" cy="283154"/>
          </a:xfrm>
          <a:prstGeom prst="rect">
            <a:avLst/>
          </a:prstGeom>
          <a:noFill/>
        </p:spPr>
        <p:txBody>
          <a:bodyPr wrap="none" lIns="18288" tIns="18288" rIns="18288" bIns="18288" anchor="t">
            <a:spAutoFit/>
          </a:bodyPr>
          <a:lstStyle/>
          <a:p>
            <a:pPr algn="l"/>
            <a:r>
              <a:rPr sz="1600" b="0" i="0">
                <a:solidFill>
                  <a:srgbClr val="1E1D1C"/>
                </a:solidFill>
                <a:latin typeface="Aptos"/>
              </a:rPr>
              <a:t>need to locate suspicious activity inside long CCTV recordings</a:t>
            </a:r>
          </a:p>
        </p:txBody>
      </p:sp>
      <p:sp>
        <p:nvSpPr>
          <p:cNvPr id="13" name="Rectangle 12"/>
          <p:cNvSpPr/>
          <p:nvPr/>
        </p:nvSpPr>
        <p:spPr>
          <a:xfrm>
            <a:off x="475488" y="3172968"/>
            <a:ext cx="11228832" cy="621792"/>
          </a:xfrm>
          <a:prstGeom prst="rect">
            <a:avLst/>
          </a:prstGeom>
          <a:solidFill>
            <a:srgbClr val="E9EFF1"/>
          </a:solidFill>
          <a:ln>
            <a:solidFill>
              <a:srgbClr val="EF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319272"/>
            <a:ext cx="1158330" cy="283154"/>
          </a:xfrm>
          <a:prstGeom prst="rect">
            <a:avLst/>
          </a:prstGeom>
          <a:noFill/>
        </p:spPr>
        <p:txBody>
          <a:bodyPr wrap="none" lIns="18288" tIns="18288" rIns="18288" bIns="18288" anchor="t">
            <a:spAutoFit/>
          </a:bodyPr>
          <a:lstStyle/>
          <a:p>
            <a:pPr algn="l"/>
            <a:r>
              <a:rPr sz="1600" b="1" i="0">
                <a:solidFill>
                  <a:srgbClr val="E85B30"/>
                </a:solidFill>
                <a:latin typeface="Aptos"/>
              </a:rPr>
              <a:t>Our product</a:t>
            </a:r>
          </a:p>
        </p:txBody>
      </p:sp>
      <p:sp>
        <p:nvSpPr>
          <p:cNvPr id="15" name="TextBox 14"/>
          <p:cNvSpPr txBox="1"/>
          <p:nvPr/>
        </p:nvSpPr>
        <p:spPr>
          <a:xfrm>
            <a:off x="1874519" y="3319272"/>
            <a:ext cx="5292987" cy="283154"/>
          </a:xfrm>
          <a:prstGeom prst="rect">
            <a:avLst/>
          </a:prstGeom>
          <a:noFill/>
        </p:spPr>
        <p:txBody>
          <a:bodyPr wrap="none" lIns="18288" tIns="18288" rIns="18288" bIns="18288" anchor="t">
            <a:spAutoFit/>
          </a:bodyPr>
          <a:lstStyle/>
          <a:p>
            <a:pPr algn="l"/>
            <a:r>
              <a:rPr sz="1600" b="0" i="0">
                <a:solidFill>
                  <a:srgbClr val="1E1D1C"/>
                </a:solidFill>
                <a:latin typeface="Aptos"/>
              </a:rPr>
              <a:t>is an AI-assisted surveillance anomaly detection dashboard</a:t>
            </a:r>
          </a:p>
        </p:txBody>
      </p:sp>
      <p:sp>
        <p:nvSpPr>
          <p:cNvPr id="16" name="Rectangle 15"/>
          <p:cNvSpPr/>
          <p:nvPr/>
        </p:nvSpPr>
        <p:spPr>
          <a:xfrm>
            <a:off x="475488" y="3831335"/>
            <a:ext cx="11228832" cy="621792"/>
          </a:xfrm>
          <a:prstGeom prst="rect">
            <a:avLst/>
          </a:prstGeom>
          <a:solidFill>
            <a:srgbClr val="EFF2F3"/>
          </a:solidFill>
          <a:ln>
            <a:solidFill>
              <a:srgbClr val="EF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977639"/>
            <a:ext cx="446020" cy="283154"/>
          </a:xfrm>
          <a:prstGeom prst="rect">
            <a:avLst/>
          </a:prstGeom>
          <a:noFill/>
        </p:spPr>
        <p:txBody>
          <a:bodyPr wrap="none" lIns="18288" tIns="18288" rIns="18288" bIns="18288" anchor="t">
            <a:spAutoFit/>
          </a:bodyPr>
          <a:lstStyle/>
          <a:p>
            <a:pPr algn="l"/>
            <a:r>
              <a:rPr sz="1600" b="1" i="0">
                <a:solidFill>
                  <a:srgbClr val="E85B30"/>
                </a:solidFill>
                <a:latin typeface="Aptos"/>
              </a:rPr>
              <a:t>That</a:t>
            </a:r>
          </a:p>
        </p:txBody>
      </p:sp>
      <p:sp>
        <p:nvSpPr>
          <p:cNvPr id="18" name="TextBox 17"/>
          <p:cNvSpPr txBox="1"/>
          <p:nvPr/>
        </p:nvSpPr>
        <p:spPr>
          <a:xfrm>
            <a:off x="1874519" y="3977639"/>
            <a:ext cx="7005123" cy="283154"/>
          </a:xfrm>
          <a:prstGeom prst="rect">
            <a:avLst/>
          </a:prstGeom>
          <a:noFill/>
        </p:spPr>
        <p:txBody>
          <a:bodyPr wrap="none" lIns="18288" tIns="18288" rIns="18288" bIns="18288" anchor="t">
            <a:spAutoFit/>
          </a:bodyPr>
          <a:lstStyle/>
          <a:p>
            <a:pPr algn="l"/>
            <a:r>
              <a:rPr sz="1600" b="0" i="0">
                <a:solidFill>
                  <a:srgbClr val="1E1D1C"/>
                </a:solidFill>
                <a:latin typeface="Aptos"/>
              </a:rPr>
              <a:t>highlights model-detected temporal incidents with confidence and timestamps</a:t>
            </a:r>
          </a:p>
        </p:txBody>
      </p:sp>
      <p:sp>
        <p:nvSpPr>
          <p:cNvPr id="19" name="Rectangle 18"/>
          <p:cNvSpPr/>
          <p:nvPr/>
        </p:nvSpPr>
        <p:spPr>
          <a:xfrm>
            <a:off x="475488" y="4489703"/>
            <a:ext cx="11228832" cy="621792"/>
          </a:xfrm>
          <a:prstGeom prst="rect">
            <a:avLst/>
          </a:prstGeom>
          <a:solidFill>
            <a:srgbClr val="E9EFF1"/>
          </a:solidFill>
          <a:ln>
            <a:solidFill>
              <a:srgbClr val="EF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636007"/>
            <a:ext cx="632033" cy="283154"/>
          </a:xfrm>
          <a:prstGeom prst="rect">
            <a:avLst/>
          </a:prstGeom>
          <a:noFill/>
        </p:spPr>
        <p:txBody>
          <a:bodyPr wrap="none" lIns="18288" tIns="18288" rIns="18288" bIns="18288" anchor="t">
            <a:spAutoFit/>
          </a:bodyPr>
          <a:lstStyle/>
          <a:p>
            <a:pPr algn="l"/>
            <a:r>
              <a:rPr sz="1600" b="1" i="0">
                <a:solidFill>
                  <a:srgbClr val="E85B30"/>
                </a:solidFill>
                <a:latin typeface="Aptos"/>
              </a:rPr>
              <a:t>Unlike</a:t>
            </a:r>
          </a:p>
        </p:txBody>
      </p:sp>
      <p:sp>
        <p:nvSpPr>
          <p:cNvPr id="21" name="TextBox 20"/>
          <p:cNvSpPr txBox="1"/>
          <p:nvPr/>
        </p:nvSpPr>
        <p:spPr>
          <a:xfrm>
            <a:off x="1874519" y="4636007"/>
            <a:ext cx="4425250" cy="283154"/>
          </a:xfrm>
          <a:prstGeom prst="rect">
            <a:avLst/>
          </a:prstGeom>
          <a:noFill/>
        </p:spPr>
        <p:txBody>
          <a:bodyPr wrap="none" lIns="18288" tIns="18288" rIns="18288" bIns="18288" anchor="t">
            <a:spAutoFit/>
          </a:bodyPr>
          <a:lstStyle/>
          <a:p>
            <a:pPr algn="l"/>
            <a:r>
              <a:rPr sz="1600" b="0" i="0">
                <a:solidFill>
                  <a:srgbClr val="1E1D1C"/>
                </a:solidFill>
                <a:latin typeface="Aptos"/>
              </a:rPr>
              <a:t>manual video review or generic motion-only alerts</a:t>
            </a:r>
          </a:p>
        </p:txBody>
      </p:sp>
      <p:sp>
        <p:nvSpPr>
          <p:cNvPr id="22" name="Rectangle 21"/>
          <p:cNvSpPr/>
          <p:nvPr/>
        </p:nvSpPr>
        <p:spPr>
          <a:xfrm>
            <a:off x="475488" y="5148071"/>
            <a:ext cx="11228832" cy="621792"/>
          </a:xfrm>
          <a:prstGeom prst="rect">
            <a:avLst/>
          </a:prstGeom>
          <a:solidFill>
            <a:srgbClr val="EFF2F3"/>
          </a:solidFill>
          <a:ln>
            <a:solidFill>
              <a:srgbClr val="EF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5294375"/>
            <a:ext cx="335989" cy="283154"/>
          </a:xfrm>
          <a:prstGeom prst="rect">
            <a:avLst/>
          </a:prstGeom>
          <a:noFill/>
        </p:spPr>
        <p:txBody>
          <a:bodyPr wrap="none" lIns="18288" tIns="18288" rIns="18288" bIns="18288" anchor="t">
            <a:spAutoFit/>
          </a:bodyPr>
          <a:lstStyle/>
          <a:p>
            <a:pPr algn="l"/>
            <a:r>
              <a:rPr sz="1600" b="1" i="0">
                <a:solidFill>
                  <a:srgbClr val="E85B30"/>
                </a:solidFill>
                <a:latin typeface="Aptos"/>
              </a:rPr>
              <a:t>We</a:t>
            </a:r>
          </a:p>
        </p:txBody>
      </p:sp>
      <p:sp>
        <p:nvSpPr>
          <p:cNvPr id="24" name="TextBox 23"/>
          <p:cNvSpPr txBox="1"/>
          <p:nvPr/>
        </p:nvSpPr>
        <p:spPr>
          <a:xfrm>
            <a:off x="1874519" y="5294375"/>
            <a:ext cx="6890733" cy="283154"/>
          </a:xfrm>
          <a:prstGeom prst="rect">
            <a:avLst/>
          </a:prstGeom>
          <a:noFill/>
        </p:spPr>
        <p:txBody>
          <a:bodyPr wrap="none" lIns="18288" tIns="18288" rIns="18288" bIns="18288" anchor="t">
            <a:spAutoFit/>
          </a:bodyPr>
          <a:lstStyle/>
          <a:p>
            <a:pPr algn="l"/>
            <a:r>
              <a:rPr sz="1600" b="0" i="0">
                <a:solidFill>
                  <a:srgbClr val="1E1D1C"/>
                </a:solidFill>
                <a:latin typeface="Aptos"/>
              </a:rPr>
              <a:t>combine temporal deep-learning inference with an incident-focused review UI</a:t>
            </a:r>
          </a:p>
        </p:txBody>
      </p:sp>
      <p:sp>
        <p:nvSpPr>
          <p:cNvPr id="25" name="TextBox 24"/>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03</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Core user journey</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Trigger to outcome, in seven steps.</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1865376"/>
            <a:ext cx="656783" cy="283154"/>
          </a:xfrm>
          <a:prstGeom prst="rect">
            <a:avLst/>
          </a:prstGeom>
          <a:noFill/>
        </p:spPr>
        <p:txBody>
          <a:bodyPr wrap="none" lIns="18288" tIns="18288" rIns="18288" bIns="18288" anchor="t">
            <a:spAutoFit/>
          </a:bodyPr>
          <a:lstStyle/>
          <a:p>
            <a:pPr algn="just"/>
            <a:r>
              <a:rPr sz="1600" b="1" i="0">
                <a:solidFill>
                  <a:srgbClr val="E85B30"/>
                </a:solidFill>
                <a:latin typeface="Aptos"/>
              </a:rPr>
              <a:t>Trigger</a:t>
            </a:r>
          </a:p>
        </p:txBody>
      </p:sp>
      <p:sp>
        <p:nvSpPr>
          <p:cNvPr id="8" name="Rectangle 7"/>
          <p:cNvSpPr/>
          <p:nvPr/>
        </p:nvSpPr>
        <p:spPr>
          <a:xfrm>
            <a:off x="475488" y="2176272"/>
            <a:ext cx="1494390" cy="365760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3504" y="2395728"/>
            <a:ext cx="1238358" cy="1021818"/>
          </a:xfrm>
          <a:prstGeom prst="rect">
            <a:avLst/>
          </a:prstGeom>
          <a:noFill/>
        </p:spPr>
        <p:txBody>
          <a:bodyPr wrap="square" lIns="18288" tIns="18288" rIns="18288" bIns="18288" anchor="t">
            <a:spAutoFit/>
          </a:bodyPr>
          <a:lstStyle/>
          <a:p>
            <a:pPr algn="just"/>
            <a:r>
              <a:rPr sz="1600" b="0" i="0">
                <a:solidFill>
                  <a:srgbClr val="1E1D1C"/>
                </a:solidFill>
                <a:latin typeface="Aptos"/>
              </a:rPr>
              <a:t>Need to review a long surveillance video.</a:t>
            </a:r>
          </a:p>
        </p:txBody>
      </p:sp>
      <p:sp>
        <p:nvSpPr>
          <p:cNvPr id="10" name="TextBox 9"/>
          <p:cNvSpPr txBox="1"/>
          <p:nvPr/>
        </p:nvSpPr>
        <p:spPr>
          <a:xfrm>
            <a:off x="2097894" y="1865376"/>
            <a:ext cx="1001108" cy="283154"/>
          </a:xfrm>
          <a:prstGeom prst="rect">
            <a:avLst/>
          </a:prstGeom>
          <a:noFill/>
        </p:spPr>
        <p:txBody>
          <a:bodyPr wrap="none" lIns="18288" tIns="18288" rIns="18288" bIns="18288" anchor="t">
            <a:spAutoFit/>
          </a:bodyPr>
          <a:lstStyle/>
          <a:p>
            <a:pPr algn="just"/>
            <a:r>
              <a:rPr sz="1600" b="1" i="0">
                <a:solidFill>
                  <a:srgbClr val="E85B30"/>
                </a:solidFill>
                <a:latin typeface="Aptos"/>
              </a:rPr>
              <a:t>User entry</a:t>
            </a:r>
          </a:p>
        </p:txBody>
      </p:sp>
      <p:sp>
        <p:nvSpPr>
          <p:cNvPr id="11" name="Rectangle 10"/>
          <p:cNvSpPr/>
          <p:nvPr/>
        </p:nvSpPr>
        <p:spPr>
          <a:xfrm>
            <a:off x="2097894" y="2176272"/>
            <a:ext cx="1494390" cy="365760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25910" y="2395728"/>
            <a:ext cx="1238358" cy="1268039"/>
          </a:xfrm>
          <a:prstGeom prst="rect">
            <a:avLst/>
          </a:prstGeom>
          <a:noFill/>
        </p:spPr>
        <p:txBody>
          <a:bodyPr wrap="square" lIns="18288" tIns="18288" rIns="18288" bIns="18288" anchor="t">
            <a:spAutoFit/>
          </a:bodyPr>
          <a:lstStyle/>
          <a:p>
            <a:pPr algn="just"/>
            <a:r>
              <a:rPr sz="1600" b="0" i="0">
                <a:solidFill>
                  <a:srgbClr val="1E1D1C"/>
                </a:solidFill>
                <a:latin typeface="Aptos"/>
              </a:rPr>
              <a:t>Open Dataset Simulation in the dashboard.</a:t>
            </a:r>
          </a:p>
        </p:txBody>
      </p:sp>
      <p:sp>
        <p:nvSpPr>
          <p:cNvPr id="13" name="TextBox 12"/>
          <p:cNvSpPr txBox="1"/>
          <p:nvPr/>
        </p:nvSpPr>
        <p:spPr>
          <a:xfrm>
            <a:off x="3720301" y="1865376"/>
            <a:ext cx="1105431" cy="283154"/>
          </a:xfrm>
          <a:prstGeom prst="rect">
            <a:avLst/>
          </a:prstGeom>
          <a:noFill/>
        </p:spPr>
        <p:txBody>
          <a:bodyPr wrap="none" lIns="18288" tIns="18288" rIns="18288" bIns="18288" anchor="t">
            <a:spAutoFit/>
          </a:bodyPr>
          <a:lstStyle/>
          <a:p>
            <a:pPr algn="just"/>
            <a:r>
              <a:rPr sz="1600" b="1" i="0">
                <a:solidFill>
                  <a:srgbClr val="E85B30"/>
                </a:solidFill>
                <a:latin typeface="Aptos"/>
              </a:rPr>
              <a:t>User action</a:t>
            </a:r>
          </a:p>
        </p:txBody>
      </p:sp>
      <p:sp>
        <p:nvSpPr>
          <p:cNvPr id="14" name="Rectangle 13"/>
          <p:cNvSpPr/>
          <p:nvPr/>
        </p:nvSpPr>
        <p:spPr>
          <a:xfrm>
            <a:off x="3720301" y="2176272"/>
            <a:ext cx="1494390" cy="365760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8317" y="2395728"/>
            <a:ext cx="1238358" cy="775597"/>
          </a:xfrm>
          <a:prstGeom prst="rect">
            <a:avLst/>
          </a:prstGeom>
          <a:noFill/>
        </p:spPr>
        <p:txBody>
          <a:bodyPr wrap="square" lIns="18288" tIns="18288" rIns="18288" bIns="18288" anchor="t">
            <a:spAutoFit/>
          </a:bodyPr>
          <a:lstStyle/>
          <a:p>
            <a:pPr algn="just"/>
            <a:r>
              <a:rPr sz="1600" b="0" i="0">
                <a:solidFill>
                  <a:srgbClr val="1E1D1C"/>
                </a:solidFill>
                <a:latin typeface="Aptos"/>
              </a:rPr>
              <a:t>Select a real UCF-Crime MP4.</a:t>
            </a:r>
          </a:p>
        </p:txBody>
      </p:sp>
      <p:sp>
        <p:nvSpPr>
          <p:cNvPr id="16" name="TextBox 15"/>
          <p:cNvSpPr txBox="1"/>
          <p:nvPr/>
        </p:nvSpPr>
        <p:spPr>
          <a:xfrm>
            <a:off x="5342708" y="1865376"/>
            <a:ext cx="1083630" cy="283154"/>
          </a:xfrm>
          <a:prstGeom prst="rect">
            <a:avLst/>
          </a:prstGeom>
          <a:noFill/>
        </p:spPr>
        <p:txBody>
          <a:bodyPr wrap="none" lIns="18288" tIns="18288" rIns="18288" bIns="18288" anchor="t">
            <a:spAutoFit/>
          </a:bodyPr>
          <a:lstStyle/>
          <a:p>
            <a:pPr algn="just"/>
            <a:r>
              <a:rPr sz="1600" b="1" i="0">
                <a:solidFill>
                  <a:srgbClr val="E85B30"/>
                </a:solidFill>
                <a:latin typeface="Aptos"/>
              </a:rPr>
              <a:t>System / AI</a:t>
            </a:r>
          </a:p>
        </p:txBody>
      </p:sp>
      <p:sp>
        <p:nvSpPr>
          <p:cNvPr id="17" name="Rectangle 16"/>
          <p:cNvSpPr/>
          <p:nvPr/>
        </p:nvSpPr>
        <p:spPr>
          <a:xfrm>
            <a:off x="5342708" y="2176272"/>
            <a:ext cx="1494390" cy="3657600"/>
          </a:xfrm>
          <a:prstGeom prst="rect">
            <a:avLst/>
          </a:prstGeom>
          <a:solidFill>
            <a:srgbClr val="F6EFEB"/>
          </a:solidFill>
          <a:ln>
            <a:solidFill>
              <a:srgbClr val="E85B3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70724" y="2395728"/>
            <a:ext cx="1238358" cy="1268039"/>
          </a:xfrm>
          <a:prstGeom prst="rect">
            <a:avLst/>
          </a:prstGeom>
          <a:noFill/>
        </p:spPr>
        <p:txBody>
          <a:bodyPr wrap="square" lIns="18288" tIns="18288" rIns="18288" bIns="18288" anchor="t">
            <a:spAutoFit/>
          </a:bodyPr>
          <a:lstStyle/>
          <a:p>
            <a:pPr algn="just"/>
            <a:r>
              <a:rPr sz="1600" b="0" i="0">
                <a:solidFill>
                  <a:srgbClr val="1E1D1C"/>
                </a:solidFill>
                <a:latin typeface="Aptos"/>
              </a:rPr>
              <a:t>Model pipeline scores temporal windows.</a:t>
            </a:r>
          </a:p>
        </p:txBody>
      </p:sp>
      <p:sp>
        <p:nvSpPr>
          <p:cNvPr id="19" name="TextBox 18"/>
          <p:cNvSpPr txBox="1"/>
          <p:nvPr/>
        </p:nvSpPr>
        <p:spPr>
          <a:xfrm>
            <a:off x="6965115" y="1865376"/>
            <a:ext cx="639662" cy="283154"/>
          </a:xfrm>
          <a:prstGeom prst="rect">
            <a:avLst/>
          </a:prstGeom>
          <a:noFill/>
        </p:spPr>
        <p:txBody>
          <a:bodyPr wrap="none" lIns="18288" tIns="18288" rIns="18288" bIns="18288" anchor="t">
            <a:spAutoFit/>
          </a:bodyPr>
          <a:lstStyle/>
          <a:p>
            <a:pPr algn="just"/>
            <a:r>
              <a:rPr sz="1600" b="1" i="0">
                <a:solidFill>
                  <a:srgbClr val="E85B30"/>
                </a:solidFill>
                <a:latin typeface="Aptos"/>
              </a:rPr>
              <a:t>Result</a:t>
            </a:r>
          </a:p>
        </p:txBody>
      </p:sp>
      <p:sp>
        <p:nvSpPr>
          <p:cNvPr id="20" name="Rectangle 19"/>
          <p:cNvSpPr/>
          <p:nvPr/>
        </p:nvSpPr>
        <p:spPr>
          <a:xfrm>
            <a:off x="6965115" y="2176272"/>
            <a:ext cx="1494390" cy="365760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93131" y="2395728"/>
            <a:ext cx="1238358" cy="1021818"/>
          </a:xfrm>
          <a:prstGeom prst="rect">
            <a:avLst/>
          </a:prstGeom>
          <a:noFill/>
        </p:spPr>
        <p:txBody>
          <a:bodyPr wrap="square" lIns="18288" tIns="18288" rIns="18288" bIns="18288" anchor="t">
            <a:spAutoFit/>
          </a:bodyPr>
          <a:lstStyle/>
          <a:p>
            <a:pPr algn="just"/>
            <a:r>
              <a:rPr sz="1600" b="0" i="0">
                <a:solidFill>
                  <a:srgbClr val="1E1D1C"/>
                </a:solidFill>
                <a:latin typeface="Aptos"/>
              </a:rPr>
              <a:t>Incident timestamp + confidence appear.</a:t>
            </a:r>
          </a:p>
        </p:txBody>
      </p:sp>
      <p:sp>
        <p:nvSpPr>
          <p:cNvPr id="22" name="TextBox 21"/>
          <p:cNvSpPr txBox="1"/>
          <p:nvPr/>
        </p:nvSpPr>
        <p:spPr>
          <a:xfrm>
            <a:off x="8587522" y="1865376"/>
            <a:ext cx="1105431" cy="283154"/>
          </a:xfrm>
          <a:prstGeom prst="rect">
            <a:avLst/>
          </a:prstGeom>
          <a:noFill/>
        </p:spPr>
        <p:txBody>
          <a:bodyPr wrap="none" lIns="18288" tIns="18288" rIns="18288" bIns="18288" anchor="t">
            <a:spAutoFit/>
          </a:bodyPr>
          <a:lstStyle/>
          <a:p>
            <a:pPr algn="just"/>
            <a:r>
              <a:rPr sz="1600" b="1" i="0">
                <a:solidFill>
                  <a:srgbClr val="E85B30"/>
                </a:solidFill>
                <a:latin typeface="Aptos"/>
              </a:rPr>
              <a:t>User action</a:t>
            </a:r>
          </a:p>
        </p:txBody>
      </p:sp>
      <p:sp>
        <p:nvSpPr>
          <p:cNvPr id="23" name="Rectangle 22"/>
          <p:cNvSpPr/>
          <p:nvPr/>
        </p:nvSpPr>
        <p:spPr>
          <a:xfrm>
            <a:off x="8587522" y="2176272"/>
            <a:ext cx="1494390" cy="365760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15538" y="2395728"/>
            <a:ext cx="1238358" cy="1021818"/>
          </a:xfrm>
          <a:prstGeom prst="rect">
            <a:avLst/>
          </a:prstGeom>
          <a:noFill/>
        </p:spPr>
        <p:txBody>
          <a:bodyPr wrap="square" lIns="18288" tIns="18288" rIns="18288" bIns="18288" anchor="t">
            <a:spAutoFit/>
          </a:bodyPr>
          <a:lstStyle/>
          <a:p>
            <a:pPr algn="just"/>
            <a:r>
              <a:rPr sz="1600" b="0" i="0">
                <a:solidFill>
                  <a:srgbClr val="1E1D1C"/>
                </a:solidFill>
                <a:latin typeface="Aptos"/>
              </a:rPr>
              <a:t>Click an incident to seek the video.</a:t>
            </a:r>
          </a:p>
        </p:txBody>
      </p:sp>
      <p:sp>
        <p:nvSpPr>
          <p:cNvPr id="25" name="TextBox 24"/>
          <p:cNvSpPr txBox="1"/>
          <p:nvPr/>
        </p:nvSpPr>
        <p:spPr>
          <a:xfrm>
            <a:off x="10209929" y="1865376"/>
            <a:ext cx="904735" cy="283154"/>
          </a:xfrm>
          <a:prstGeom prst="rect">
            <a:avLst/>
          </a:prstGeom>
          <a:noFill/>
        </p:spPr>
        <p:txBody>
          <a:bodyPr wrap="none" lIns="18288" tIns="18288" rIns="18288" bIns="18288" anchor="t">
            <a:spAutoFit/>
          </a:bodyPr>
          <a:lstStyle/>
          <a:p>
            <a:pPr algn="just"/>
            <a:r>
              <a:rPr sz="1600" b="1" i="0">
                <a:solidFill>
                  <a:srgbClr val="E85B30"/>
                </a:solidFill>
                <a:latin typeface="Aptos"/>
              </a:rPr>
              <a:t>Outcome</a:t>
            </a:r>
          </a:p>
        </p:txBody>
      </p:sp>
      <p:sp>
        <p:nvSpPr>
          <p:cNvPr id="26" name="Rectangle 25"/>
          <p:cNvSpPr/>
          <p:nvPr/>
        </p:nvSpPr>
        <p:spPr>
          <a:xfrm>
            <a:off x="10209929" y="2176272"/>
            <a:ext cx="1494390" cy="3657600"/>
          </a:xfrm>
          <a:prstGeom prst="rect">
            <a:avLst/>
          </a:prstGeom>
          <a:solidFill>
            <a:srgbClr val="F6EFEB"/>
          </a:solidFill>
          <a:ln>
            <a:solidFill>
              <a:srgbClr val="E85B3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337945" y="2395728"/>
            <a:ext cx="1238358" cy="1268039"/>
          </a:xfrm>
          <a:prstGeom prst="rect">
            <a:avLst/>
          </a:prstGeom>
          <a:noFill/>
        </p:spPr>
        <p:txBody>
          <a:bodyPr wrap="square" lIns="18288" tIns="18288" rIns="18288" bIns="18288" anchor="t">
            <a:spAutoFit/>
          </a:bodyPr>
          <a:lstStyle/>
          <a:p>
            <a:pPr algn="just"/>
            <a:r>
              <a:rPr sz="1600" b="0" i="0">
                <a:solidFill>
                  <a:srgbClr val="1E1D1C"/>
                </a:solidFill>
                <a:latin typeface="Aptos"/>
              </a:rPr>
              <a:t>Reviewer reaches the suspicious moment faster.</a:t>
            </a:r>
          </a:p>
        </p:txBody>
      </p:sp>
      <p:sp>
        <p:nvSpPr>
          <p:cNvPr id="28" name="TextBox 27"/>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04</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Core features</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Every feature should remove a concrete review bottleneck.</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65376"/>
            <a:ext cx="11228832" cy="804672"/>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9968"/>
            <a:ext cx="2074350" cy="252377"/>
          </a:xfrm>
          <a:prstGeom prst="rect">
            <a:avLst/>
          </a:prstGeom>
          <a:noFill/>
        </p:spPr>
        <p:txBody>
          <a:bodyPr wrap="none" lIns="18288" tIns="18288" rIns="18288" bIns="18288" anchor="t">
            <a:spAutoFit/>
          </a:bodyPr>
          <a:lstStyle/>
          <a:p>
            <a:pPr algn="l"/>
            <a:r>
              <a:rPr sz="1400" b="1" i="0">
                <a:solidFill>
                  <a:srgbClr val="1E1D1C"/>
                </a:solidFill>
                <a:latin typeface="Aptos"/>
              </a:rPr>
              <a:t>Dataset video simulation</a:t>
            </a:r>
          </a:p>
        </p:txBody>
      </p:sp>
      <p:sp>
        <p:nvSpPr>
          <p:cNvPr id="9" name="TextBox 8"/>
          <p:cNvSpPr txBox="1"/>
          <p:nvPr/>
        </p:nvSpPr>
        <p:spPr>
          <a:xfrm>
            <a:off x="3429000" y="2002536"/>
            <a:ext cx="6049861" cy="467820"/>
          </a:xfrm>
          <a:prstGeom prst="rect">
            <a:avLst/>
          </a:prstGeom>
          <a:noFill/>
        </p:spPr>
        <p:txBody>
          <a:bodyPr wrap="none" lIns="18288" tIns="18288" rIns="18288" bIns="18288" anchor="t">
            <a:spAutoFit/>
          </a:bodyPr>
          <a:lstStyle/>
          <a:p>
            <a:pPr algn="l"/>
            <a:r>
              <a:rPr sz="1400" b="0" i="0" dirty="0">
                <a:solidFill>
                  <a:srgbClr val="1E1D1C"/>
                </a:solidFill>
                <a:latin typeface="Aptos"/>
              </a:rPr>
              <a:t>Lets reviewers test the system on selected UCF-Crime MP4 footage instead of </a:t>
            </a:r>
            <a:endParaRPr lang="en-IN" sz="1400" b="0" i="0" dirty="0">
              <a:solidFill>
                <a:srgbClr val="1E1D1C"/>
              </a:solidFill>
              <a:latin typeface="Aptos"/>
            </a:endParaRPr>
          </a:p>
          <a:p>
            <a:pPr algn="l"/>
            <a:r>
              <a:rPr sz="1400" b="0" i="0" dirty="0">
                <a:solidFill>
                  <a:srgbClr val="1E1D1C"/>
                </a:solidFill>
                <a:latin typeface="Aptos"/>
              </a:rPr>
              <a:t>relying on a webcam.</a:t>
            </a:r>
          </a:p>
        </p:txBody>
      </p:sp>
      <p:sp>
        <p:nvSpPr>
          <p:cNvPr id="10" name="TextBox 9"/>
          <p:cNvSpPr txBox="1"/>
          <p:nvPr/>
        </p:nvSpPr>
        <p:spPr>
          <a:xfrm>
            <a:off x="10354406" y="2066544"/>
            <a:ext cx="505267" cy="252377"/>
          </a:xfrm>
          <a:prstGeom prst="rect">
            <a:avLst/>
          </a:prstGeom>
          <a:noFill/>
        </p:spPr>
        <p:txBody>
          <a:bodyPr wrap="none" lIns="18288" tIns="18288" rIns="18288" bIns="18288" anchor="t">
            <a:spAutoFit/>
          </a:bodyPr>
          <a:lstStyle/>
          <a:p>
            <a:pPr algn="ctr"/>
            <a:r>
              <a:rPr sz="1400" b="1" i="0">
                <a:solidFill>
                  <a:srgbClr val="E85B30"/>
                </a:solidFill>
                <a:latin typeface="Aptos"/>
              </a:rPr>
              <a:t>MUST</a:t>
            </a:r>
          </a:p>
        </p:txBody>
      </p:sp>
      <p:sp>
        <p:nvSpPr>
          <p:cNvPr id="11" name="Rectangle 10"/>
          <p:cNvSpPr/>
          <p:nvPr/>
        </p:nvSpPr>
        <p:spPr>
          <a:xfrm>
            <a:off x="475488" y="2734056"/>
            <a:ext cx="11228832" cy="804672"/>
          </a:xfrm>
          <a:prstGeom prst="rect">
            <a:avLst/>
          </a:prstGeom>
          <a:solidFill>
            <a:srgbClr val="EFF2F3"/>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898648"/>
            <a:ext cx="2014334" cy="252377"/>
          </a:xfrm>
          <a:prstGeom prst="rect">
            <a:avLst/>
          </a:prstGeom>
          <a:noFill/>
        </p:spPr>
        <p:txBody>
          <a:bodyPr wrap="none" lIns="18288" tIns="18288" rIns="18288" bIns="18288" anchor="t">
            <a:spAutoFit/>
          </a:bodyPr>
          <a:lstStyle/>
          <a:p>
            <a:pPr algn="l"/>
            <a:r>
              <a:rPr sz="1400" b="1" i="0">
                <a:solidFill>
                  <a:srgbClr val="1E1D1C"/>
                </a:solidFill>
                <a:latin typeface="Aptos"/>
              </a:rPr>
              <a:t>Temporal incident alerts</a:t>
            </a:r>
          </a:p>
        </p:txBody>
      </p:sp>
      <p:sp>
        <p:nvSpPr>
          <p:cNvPr id="13" name="TextBox 12"/>
          <p:cNvSpPr txBox="1"/>
          <p:nvPr/>
        </p:nvSpPr>
        <p:spPr>
          <a:xfrm>
            <a:off x="3429000" y="2871216"/>
            <a:ext cx="6767109" cy="252377"/>
          </a:xfrm>
          <a:prstGeom prst="rect">
            <a:avLst/>
          </a:prstGeom>
          <a:noFill/>
        </p:spPr>
        <p:txBody>
          <a:bodyPr wrap="none" lIns="18288" tIns="18288" rIns="18288" bIns="18288" anchor="t">
            <a:spAutoFit/>
          </a:bodyPr>
          <a:lstStyle/>
          <a:p>
            <a:pPr algn="l"/>
            <a:r>
              <a:rPr sz="1400" b="0" i="0">
                <a:solidFill>
                  <a:srgbClr val="1E1D1C"/>
                </a:solidFill>
                <a:latin typeface="Aptos"/>
              </a:rPr>
              <a:t>Converts model scores into reviewable incident windows with timestamp + confidence.</a:t>
            </a:r>
          </a:p>
        </p:txBody>
      </p:sp>
      <p:sp>
        <p:nvSpPr>
          <p:cNvPr id="14" name="TextBox 13"/>
          <p:cNvSpPr txBox="1"/>
          <p:nvPr/>
        </p:nvSpPr>
        <p:spPr>
          <a:xfrm>
            <a:off x="10354406" y="2935224"/>
            <a:ext cx="505267" cy="252377"/>
          </a:xfrm>
          <a:prstGeom prst="rect">
            <a:avLst/>
          </a:prstGeom>
          <a:noFill/>
        </p:spPr>
        <p:txBody>
          <a:bodyPr wrap="none" lIns="18288" tIns="18288" rIns="18288" bIns="18288" anchor="t">
            <a:spAutoFit/>
          </a:bodyPr>
          <a:lstStyle/>
          <a:p>
            <a:pPr algn="ctr"/>
            <a:r>
              <a:rPr sz="1400" b="1" i="0">
                <a:solidFill>
                  <a:srgbClr val="E85B30"/>
                </a:solidFill>
                <a:latin typeface="Aptos"/>
              </a:rPr>
              <a:t>MUST</a:t>
            </a:r>
          </a:p>
        </p:txBody>
      </p:sp>
      <p:sp>
        <p:nvSpPr>
          <p:cNvPr id="15" name="Rectangle 14"/>
          <p:cNvSpPr/>
          <p:nvPr/>
        </p:nvSpPr>
        <p:spPr>
          <a:xfrm>
            <a:off x="475488" y="3602736"/>
            <a:ext cx="11228832" cy="804672"/>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767328"/>
            <a:ext cx="1746440" cy="252377"/>
          </a:xfrm>
          <a:prstGeom prst="rect">
            <a:avLst/>
          </a:prstGeom>
          <a:noFill/>
        </p:spPr>
        <p:txBody>
          <a:bodyPr wrap="none" lIns="18288" tIns="18288" rIns="18288" bIns="18288" anchor="t">
            <a:spAutoFit/>
          </a:bodyPr>
          <a:lstStyle/>
          <a:p>
            <a:pPr algn="l"/>
            <a:r>
              <a:rPr sz="1400" b="1" i="0">
                <a:solidFill>
                  <a:srgbClr val="1E1D1C"/>
                </a:solidFill>
                <a:latin typeface="Aptos"/>
              </a:rPr>
              <a:t>In-video alert overlay</a:t>
            </a:r>
          </a:p>
        </p:txBody>
      </p:sp>
      <p:sp>
        <p:nvSpPr>
          <p:cNvPr id="17" name="TextBox 16"/>
          <p:cNvSpPr txBox="1"/>
          <p:nvPr/>
        </p:nvSpPr>
        <p:spPr>
          <a:xfrm>
            <a:off x="3429000" y="3739896"/>
            <a:ext cx="5176161" cy="252377"/>
          </a:xfrm>
          <a:prstGeom prst="rect">
            <a:avLst/>
          </a:prstGeom>
          <a:noFill/>
        </p:spPr>
        <p:txBody>
          <a:bodyPr wrap="none" lIns="18288" tIns="18288" rIns="18288" bIns="18288" anchor="t">
            <a:spAutoFit/>
          </a:bodyPr>
          <a:lstStyle/>
          <a:p>
            <a:pPr algn="l"/>
            <a:r>
              <a:rPr sz="1400" b="0" i="0">
                <a:solidFill>
                  <a:srgbClr val="1E1D1C"/>
                </a:solidFill>
                <a:latin typeface="Aptos"/>
              </a:rPr>
              <a:t>Shows the current detected incident while the real video is playing.</a:t>
            </a:r>
          </a:p>
        </p:txBody>
      </p:sp>
      <p:sp>
        <p:nvSpPr>
          <p:cNvPr id="18" name="TextBox 17"/>
          <p:cNvSpPr txBox="1"/>
          <p:nvPr/>
        </p:nvSpPr>
        <p:spPr>
          <a:xfrm>
            <a:off x="10231104" y="3803904"/>
            <a:ext cx="751872" cy="252377"/>
          </a:xfrm>
          <a:prstGeom prst="rect">
            <a:avLst/>
          </a:prstGeom>
          <a:noFill/>
        </p:spPr>
        <p:txBody>
          <a:bodyPr wrap="none" lIns="18288" tIns="18288" rIns="18288" bIns="18288" anchor="t">
            <a:spAutoFit/>
          </a:bodyPr>
          <a:lstStyle/>
          <a:p>
            <a:pPr algn="ctr"/>
            <a:r>
              <a:rPr sz="1400" b="1" i="0">
                <a:solidFill>
                  <a:srgbClr val="E85B30"/>
                </a:solidFill>
                <a:latin typeface="Aptos"/>
              </a:rPr>
              <a:t>SHOULD</a:t>
            </a:r>
          </a:p>
        </p:txBody>
      </p:sp>
      <p:sp>
        <p:nvSpPr>
          <p:cNvPr id="19" name="Rectangle 18"/>
          <p:cNvSpPr/>
          <p:nvPr/>
        </p:nvSpPr>
        <p:spPr>
          <a:xfrm>
            <a:off x="475488" y="4471416"/>
            <a:ext cx="11228832" cy="804672"/>
          </a:xfrm>
          <a:prstGeom prst="rect">
            <a:avLst/>
          </a:prstGeom>
          <a:solidFill>
            <a:srgbClr val="EFF2F3"/>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636008"/>
            <a:ext cx="2206117" cy="252377"/>
          </a:xfrm>
          <a:prstGeom prst="rect">
            <a:avLst/>
          </a:prstGeom>
          <a:noFill/>
        </p:spPr>
        <p:txBody>
          <a:bodyPr wrap="none" lIns="18288" tIns="18288" rIns="18288" bIns="18288" anchor="t">
            <a:spAutoFit/>
          </a:bodyPr>
          <a:lstStyle/>
          <a:p>
            <a:pPr algn="l"/>
            <a:r>
              <a:rPr sz="1400" b="1" i="0">
                <a:solidFill>
                  <a:srgbClr val="1E1D1C"/>
                </a:solidFill>
                <a:latin typeface="Aptos"/>
              </a:rPr>
              <a:t>Incident history / analytics</a:t>
            </a:r>
          </a:p>
        </p:txBody>
      </p:sp>
      <p:sp>
        <p:nvSpPr>
          <p:cNvPr id="21" name="TextBox 20"/>
          <p:cNvSpPr txBox="1"/>
          <p:nvPr/>
        </p:nvSpPr>
        <p:spPr>
          <a:xfrm>
            <a:off x="3429000" y="4608576"/>
            <a:ext cx="5483809" cy="252377"/>
          </a:xfrm>
          <a:prstGeom prst="rect">
            <a:avLst/>
          </a:prstGeom>
          <a:noFill/>
        </p:spPr>
        <p:txBody>
          <a:bodyPr wrap="none" lIns="18288" tIns="18288" rIns="18288" bIns="18288" anchor="t">
            <a:spAutoFit/>
          </a:bodyPr>
          <a:lstStyle/>
          <a:p>
            <a:pPr algn="l"/>
            <a:r>
              <a:rPr sz="1400" b="0" i="0">
                <a:solidFill>
                  <a:srgbClr val="1E1D1C"/>
                </a:solidFill>
                <a:latin typeface="Aptos"/>
              </a:rPr>
              <a:t>Makes repeated incidents easier to compare and review across videos.</a:t>
            </a:r>
          </a:p>
        </p:txBody>
      </p:sp>
      <p:sp>
        <p:nvSpPr>
          <p:cNvPr id="22" name="TextBox 21"/>
          <p:cNvSpPr txBox="1"/>
          <p:nvPr/>
        </p:nvSpPr>
        <p:spPr>
          <a:xfrm>
            <a:off x="10287657" y="4672584"/>
            <a:ext cx="638765" cy="252377"/>
          </a:xfrm>
          <a:prstGeom prst="rect">
            <a:avLst/>
          </a:prstGeom>
          <a:noFill/>
        </p:spPr>
        <p:txBody>
          <a:bodyPr wrap="none" lIns="18288" tIns="18288" rIns="18288" bIns="18288" anchor="t">
            <a:spAutoFit/>
          </a:bodyPr>
          <a:lstStyle/>
          <a:p>
            <a:pPr algn="ctr"/>
            <a:r>
              <a:rPr sz="1400" b="1" i="0">
                <a:solidFill>
                  <a:srgbClr val="7D7B79"/>
                </a:solidFill>
                <a:latin typeface="Aptos"/>
              </a:rPr>
              <a:t>COULD</a:t>
            </a:r>
          </a:p>
        </p:txBody>
      </p:sp>
      <p:sp>
        <p:nvSpPr>
          <p:cNvPr id="23" name="TextBox 22"/>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05</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Wireframes</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Four key screens showing the intended product flow.</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1847088"/>
            <a:ext cx="926087" cy="252377"/>
          </a:xfrm>
          <a:prstGeom prst="rect">
            <a:avLst/>
          </a:prstGeom>
          <a:noFill/>
        </p:spPr>
        <p:txBody>
          <a:bodyPr wrap="none" lIns="18288" tIns="18288" rIns="18288" bIns="18288" anchor="t">
            <a:spAutoFit/>
          </a:bodyPr>
          <a:lstStyle/>
          <a:p>
            <a:pPr algn="l"/>
            <a:r>
              <a:rPr sz="1400" b="1" i="0">
                <a:solidFill>
                  <a:srgbClr val="E85B30"/>
                </a:solidFill>
                <a:latin typeface="Aptos"/>
              </a:rPr>
              <a:t>Entry point</a:t>
            </a:r>
          </a:p>
        </p:txBody>
      </p:sp>
      <p:sp>
        <p:nvSpPr>
          <p:cNvPr id="8" name="Rectangle 7"/>
          <p:cNvSpPr/>
          <p:nvPr/>
        </p:nvSpPr>
        <p:spPr>
          <a:xfrm>
            <a:off x="475488" y="2176272"/>
            <a:ext cx="2514600" cy="370332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8850" y="2395728"/>
            <a:ext cx="1607876" cy="252377"/>
          </a:xfrm>
          <a:prstGeom prst="rect">
            <a:avLst/>
          </a:prstGeom>
          <a:noFill/>
        </p:spPr>
        <p:txBody>
          <a:bodyPr wrap="none" lIns="18288" tIns="18288" rIns="18288" bIns="18288" anchor="t">
            <a:spAutoFit/>
          </a:bodyPr>
          <a:lstStyle/>
          <a:p>
            <a:pPr algn="ctr"/>
            <a:r>
              <a:rPr sz="1400" b="1" i="0">
                <a:solidFill>
                  <a:srgbClr val="1E1D1C"/>
                </a:solidFill>
                <a:latin typeface="Aptos"/>
              </a:rPr>
              <a:t>Dataset Simulation</a:t>
            </a:r>
          </a:p>
        </p:txBody>
      </p:sp>
      <p:sp>
        <p:nvSpPr>
          <p:cNvPr id="10" name="Rounded Rectangle 9"/>
          <p:cNvSpPr/>
          <p:nvPr/>
        </p:nvSpPr>
        <p:spPr>
          <a:xfrm>
            <a:off x="658368" y="2907792"/>
            <a:ext cx="2148840" cy="1965960"/>
          </a:xfrm>
          <a:prstGeom prst="roundRect">
            <a:avLst/>
          </a:prstGeom>
          <a:solidFill>
            <a:srgbClr val="FCFAF8"/>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3283" y="3590288"/>
            <a:ext cx="1999010" cy="683264"/>
          </a:xfrm>
          <a:prstGeom prst="rect">
            <a:avLst/>
          </a:prstGeom>
          <a:noFill/>
        </p:spPr>
        <p:txBody>
          <a:bodyPr wrap="none" lIns="18288" tIns="18288" rIns="18288" bIns="18288" anchor="ctr">
            <a:spAutoFit/>
          </a:bodyPr>
          <a:lstStyle/>
          <a:p>
            <a:pPr algn="ctr"/>
            <a:r>
              <a:rPr sz="1400" b="0" i="0" dirty="0">
                <a:solidFill>
                  <a:srgbClr val="1E1D1C"/>
                </a:solidFill>
                <a:latin typeface="Aptos"/>
              </a:rPr>
              <a:t>[ Select UCF-Crime MP4 ]
[ Start Simulation ]</a:t>
            </a:r>
          </a:p>
        </p:txBody>
      </p:sp>
      <p:sp>
        <p:nvSpPr>
          <p:cNvPr id="12" name="TextBox 11"/>
          <p:cNvSpPr txBox="1"/>
          <p:nvPr/>
        </p:nvSpPr>
        <p:spPr>
          <a:xfrm>
            <a:off x="3328416" y="1847088"/>
            <a:ext cx="982320" cy="252377"/>
          </a:xfrm>
          <a:prstGeom prst="rect">
            <a:avLst/>
          </a:prstGeom>
          <a:noFill/>
        </p:spPr>
        <p:txBody>
          <a:bodyPr wrap="none" lIns="18288" tIns="18288" rIns="18288" bIns="18288" anchor="t">
            <a:spAutoFit/>
          </a:bodyPr>
          <a:lstStyle/>
          <a:p>
            <a:pPr algn="l"/>
            <a:r>
              <a:rPr sz="1400" b="1" i="0">
                <a:solidFill>
                  <a:srgbClr val="E85B30"/>
                </a:solidFill>
                <a:latin typeface="Aptos"/>
              </a:rPr>
              <a:t>Core action</a:t>
            </a:r>
          </a:p>
        </p:txBody>
      </p:sp>
      <p:sp>
        <p:nvSpPr>
          <p:cNvPr id="13" name="Rectangle 12"/>
          <p:cNvSpPr/>
          <p:nvPr/>
        </p:nvSpPr>
        <p:spPr>
          <a:xfrm>
            <a:off x="3328416" y="2176272"/>
            <a:ext cx="2514600" cy="370332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671" y="2395728"/>
            <a:ext cx="1124090" cy="252377"/>
          </a:xfrm>
          <a:prstGeom prst="rect">
            <a:avLst/>
          </a:prstGeom>
          <a:noFill/>
        </p:spPr>
        <p:txBody>
          <a:bodyPr wrap="none" lIns="18288" tIns="18288" rIns="18288" bIns="18288" anchor="t">
            <a:spAutoFit/>
          </a:bodyPr>
          <a:lstStyle/>
          <a:p>
            <a:pPr algn="ctr"/>
            <a:r>
              <a:rPr sz="1400" b="1" i="0">
                <a:solidFill>
                  <a:srgbClr val="1E1D1C"/>
                </a:solidFill>
                <a:latin typeface="Aptos"/>
              </a:rPr>
              <a:t>Video Review</a:t>
            </a:r>
          </a:p>
        </p:txBody>
      </p:sp>
      <p:sp>
        <p:nvSpPr>
          <p:cNvPr id="15" name="Rounded Rectangle 14"/>
          <p:cNvSpPr/>
          <p:nvPr/>
        </p:nvSpPr>
        <p:spPr>
          <a:xfrm>
            <a:off x="3511296" y="2907792"/>
            <a:ext cx="2148840" cy="1965960"/>
          </a:xfrm>
          <a:prstGeom prst="roundRect">
            <a:avLst/>
          </a:prstGeom>
          <a:solidFill>
            <a:srgbClr val="FCFAF8"/>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03583" y="3374844"/>
            <a:ext cx="1764265" cy="1114151"/>
          </a:xfrm>
          <a:prstGeom prst="rect">
            <a:avLst/>
          </a:prstGeom>
          <a:noFill/>
        </p:spPr>
        <p:txBody>
          <a:bodyPr wrap="none" lIns="18288" tIns="18288" rIns="18288" bIns="18288" anchor="ctr">
            <a:spAutoFit/>
          </a:bodyPr>
          <a:lstStyle/>
          <a:p>
            <a:pPr algn="ctr"/>
            <a:r>
              <a:rPr sz="1400" b="0" i="0">
                <a:solidFill>
                  <a:srgbClr val="1E1D1C"/>
                </a:solidFill>
                <a:latin typeface="Aptos"/>
              </a:rPr>
              <a:t>REAL VIDEO PLAYER
00:42 / 02:13
[ Pause ] [ Re-analyze ]</a:t>
            </a:r>
          </a:p>
        </p:txBody>
      </p:sp>
      <p:sp>
        <p:nvSpPr>
          <p:cNvPr id="17" name="TextBox 16"/>
          <p:cNvSpPr txBox="1"/>
          <p:nvPr/>
        </p:nvSpPr>
        <p:spPr>
          <a:xfrm>
            <a:off x="6181344" y="1847088"/>
            <a:ext cx="782330" cy="252377"/>
          </a:xfrm>
          <a:prstGeom prst="rect">
            <a:avLst/>
          </a:prstGeom>
          <a:noFill/>
        </p:spPr>
        <p:txBody>
          <a:bodyPr wrap="none" lIns="18288" tIns="18288" rIns="18288" bIns="18288" anchor="t">
            <a:spAutoFit/>
          </a:bodyPr>
          <a:lstStyle/>
          <a:p>
            <a:pPr algn="l"/>
            <a:r>
              <a:rPr sz="1400" b="1" i="0">
                <a:solidFill>
                  <a:srgbClr val="E85B30"/>
                </a:solidFill>
                <a:latin typeface="Aptos"/>
              </a:rPr>
              <a:t>AI output</a:t>
            </a:r>
          </a:p>
        </p:txBody>
      </p:sp>
      <p:sp>
        <p:nvSpPr>
          <p:cNvPr id="18" name="Rectangle 17"/>
          <p:cNvSpPr/>
          <p:nvPr/>
        </p:nvSpPr>
        <p:spPr>
          <a:xfrm>
            <a:off x="6181344" y="2176272"/>
            <a:ext cx="2514600" cy="370332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51308" y="2395728"/>
            <a:ext cx="1374672" cy="252377"/>
          </a:xfrm>
          <a:prstGeom prst="rect">
            <a:avLst/>
          </a:prstGeom>
          <a:noFill/>
        </p:spPr>
        <p:txBody>
          <a:bodyPr wrap="none" lIns="18288" tIns="18288" rIns="18288" bIns="18288" anchor="t">
            <a:spAutoFit/>
          </a:bodyPr>
          <a:lstStyle/>
          <a:p>
            <a:pPr algn="ctr"/>
            <a:r>
              <a:rPr sz="1400" b="1" i="0">
                <a:solidFill>
                  <a:srgbClr val="1E1D1C"/>
                </a:solidFill>
                <a:latin typeface="Aptos"/>
              </a:rPr>
              <a:t>Incident Overlay</a:t>
            </a:r>
          </a:p>
        </p:txBody>
      </p:sp>
      <p:sp>
        <p:nvSpPr>
          <p:cNvPr id="20" name="Rounded Rectangle 19"/>
          <p:cNvSpPr/>
          <p:nvPr/>
        </p:nvSpPr>
        <p:spPr>
          <a:xfrm>
            <a:off x="6364224" y="2907792"/>
            <a:ext cx="2148840" cy="1965960"/>
          </a:xfrm>
          <a:prstGeom prst="roundRect">
            <a:avLst/>
          </a:prstGeom>
          <a:solidFill>
            <a:srgbClr val="FCFAF8"/>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50519" y="3590288"/>
            <a:ext cx="1976247" cy="683264"/>
          </a:xfrm>
          <a:prstGeom prst="rect">
            <a:avLst/>
          </a:prstGeom>
          <a:noFill/>
        </p:spPr>
        <p:txBody>
          <a:bodyPr wrap="none" lIns="18288" tIns="18288" rIns="18288" bIns="18288" anchor="ctr">
            <a:spAutoFit/>
          </a:bodyPr>
          <a:lstStyle/>
          <a:p>
            <a:pPr algn="ctr"/>
            <a:r>
              <a:rPr sz="1400" b="0" i="0">
                <a:solidFill>
                  <a:srgbClr val="1E1D1C"/>
                </a:solidFill>
                <a:latin typeface="Aptos"/>
              </a:rPr>
              <a:t>🔴 FIGHTING DETECTED
Confidence: 93.2%
Timestamp: 00:42</a:t>
            </a:r>
          </a:p>
        </p:txBody>
      </p:sp>
      <p:sp>
        <p:nvSpPr>
          <p:cNvPr id="22" name="TextBox 21"/>
          <p:cNvSpPr txBox="1"/>
          <p:nvPr/>
        </p:nvSpPr>
        <p:spPr>
          <a:xfrm>
            <a:off x="9034272" y="1847088"/>
            <a:ext cx="1586653" cy="252377"/>
          </a:xfrm>
          <a:prstGeom prst="rect">
            <a:avLst/>
          </a:prstGeom>
          <a:noFill/>
        </p:spPr>
        <p:txBody>
          <a:bodyPr wrap="none" lIns="18288" tIns="18288" rIns="18288" bIns="18288" anchor="t">
            <a:spAutoFit/>
          </a:bodyPr>
          <a:lstStyle/>
          <a:p>
            <a:pPr algn="l"/>
            <a:r>
              <a:rPr sz="1400" b="1" i="0">
                <a:solidFill>
                  <a:srgbClr val="E85B30"/>
                </a:solidFill>
                <a:latin typeface="Aptos"/>
              </a:rPr>
              <a:t>Result / dashboard</a:t>
            </a:r>
          </a:p>
        </p:txBody>
      </p:sp>
      <p:sp>
        <p:nvSpPr>
          <p:cNvPr id="23" name="Rectangle 22"/>
          <p:cNvSpPr/>
          <p:nvPr/>
        </p:nvSpPr>
        <p:spPr>
          <a:xfrm>
            <a:off x="9034272" y="2176272"/>
            <a:ext cx="2514600" cy="3703320"/>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70326" y="2395728"/>
            <a:ext cx="1842492" cy="252377"/>
          </a:xfrm>
          <a:prstGeom prst="rect">
            <a:avLst/>
          </a:prstGeom>
          <a:noFill/>
        </p:spPr>
        <p:txBody>
          <a:bodyPr wrap="none" lIns="18288" tIns="18288" rIns="18288" bIns="18288" anchor="t">
            <a:spAutoFit/>
          </a:bodyPr>
          <a:lstStyle/>
          <a:p>
            <a:pPr algn="ctr"/>
            <a:r>
              <a:rPr sz="1400" b="1" i="0">
                <a:solidFill>
                  <a:srgbClr val="1E1D1C"/>
                </a:solidFill>
                <a:latin typeface="Aptos"/>
              </a:rPr>
              <a:t>Live Model Detections</a:t>
            </a:r>
          </a:p>
        </p:txBody>
      </p:sp>
      <p:sp>
        <p:nvSpPr>
          <p:cNvPr id="25" name="Rounded Rectangle 24"/>
          <p:cNvSpPr/>
          <p:nvPr/>
        </p:nvSpPr>
        <p:spPr>
          <a:xfrm>
            <a:off x="9217152" y="2907792"/>
            <a:ext cx="2148840" cy="1965960"/>
          </a:xfrm>
          <a:prstGeom prst="roundRect">
            <a:avLst/>
          </a:prstGeom>
          <a:solidFill>
            <a:srgbClr val="FCFAF8"/>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19158" y="3482566"/>
            <a:ext cx="1944828" cy="898708"/>
          </a:xfrm>
          <a:prstGeom prst="rect">
            <a:avLst/>
          </a:prstGeom>
          <a:noFill/>
        </p:spPr>
        <p:txBody>
          <a:bodyPr wrap="none" lIns="18288" tIns="18288" rIns="18288" bIns="18288" anchor="ctr">
            <a:spAutoFit/>
          </a:bodyPr>
          <a:lstStyle/>
          <a:p>
            <a:pPr algn="ctr"/>
            <a:r>
              <a:rPr sz="1400" b="0" i="0">
                <a:solidFill>
                  <a:srgbClr val="1E1D1C"/>
                </a:solidFill>
                <a:latin typeface="Aptos"/>
              </a:rPr>
              <a:t>Fighting Detected   00:42
Fighting Detected   00:48
[ VIEW INCIDENT ]</a:t>
            </a:r>
          </a:p>
        </p:txBody>
      </p:sp>
      <p:sp>
        <p:nvSpPr>
          <p:cNvPr id="27" name="TextBox 26"/>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Wireframes shown are presentation mockups, not screenshots of the live UI.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06</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AI strategy</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Where AI sits in the product logic.</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3456432" cy="34290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0824"/>
            <a:ext cx="848053" cy="283154"/>
          </a:xfrm>
          <a:prstGeom prst="rect">
            <a:avLst/>
          </a:prstGeom>
          <a:noFill/>
        </p:spPr>
        <p:txBody>
          <a:bodyPr wrap="none" lIns="18288" tIns="18288" rIns="18288" bIns="18288" anchor="t">
            <a:spAutoFit/>
          </a:bodyPr>
          <a:lstStyle/>
          <a:p>
            <a:pPr algn="l"/>
            <a:r>
              <a:rPr sz="1600" b="1" i="0" dirty="0">
                <a:solidFill>
                  <a:srgbClr val="E85B30"/>
                </a:solidFill>
                <a:latin typeface="Aptos"/>
              </a:rPr>
              <a:t>AI INPUT</a:t>
            </a:r>
          </a:p>
        </p:txBody>
      </p:sp>
      <p:sp>
        <p:nvSpPr>
          <p:cNvPr id="9" name="TextBox 8"/>
          <p:cNvSpPr txBox="1"/>
          <p:nvPr/>
        </p:nvSpPr>
        <p:spPr>
          <a:xfrm>
            <a:off x="640080" y="2386584"/>
            <a:ext cx="3127248" cy="2252924"/>
          </a:xfrm>
          <a:prstGeom prst="rect">
            <a:avLst/>
          </a:prstGeom>
          <a:noFill/>
        </p:spPr>
        <p:txBody>
          <a:bodyPr wrap="square" lIns="18288" tIns="18288" rIns="18288" bIns="18288" anchor="t">
            <a:spAutoFit/>
          </a:bodyPr>
          <a:lstStyle/>
          <a:p>
            <a:pPr algn="l"/>
            <a:r>
              <a:rPr sz="1600" b="0" i="0" dirty="0">
                <a:solidFill>
                  <a:srgbClr val="1E1D1C"/>
                </a:solidFill>
                <a:latin typeface="Aptos"/>
              </a:rPr>
              <a:t>UCF-Crime-derived pre-extracted I3D features from the Hugging Face dataset:
jinmang2/ucf-crime-tencrop-i3d
Current tensor representation: temporal sequences of 2048-dimensional features.</a:t>
            </a:r>
          </a:p>
        </p:txBody>
      </p:sp>
      <p:sp>
        <p:nvSpPr>
          <p:cNvPr id="10" name="Rectangle 9"/>
          <p:cNvSpPr/>
          <p:nvPr/>
        </p:nvSpPr>
        <p:spPr>
          <a:xfrm>
            <a:off x="4233672" y="1874519"/>
            <a:ext cx="3456432" cy="3429000"/>
          </a:xfrm>
          <a:prstGeom prst="rect">
            <a:avLst/>
          </a:prstGeom>
          <a:solidFill>
            <a:srgbClr val="F6EFEB"/>
          </a:solidFill>
          <a:ln w="12700">
            <a:solidFill>
              <a:srgbClr val="E85B3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98264" y="2020824"/>
            <a:ext cx="1407180" cy="283154"/>
          </a:xfrm>
          <a:prstGeom prst="rect">
            <a:avLst/>
          </a:prstGeom>
          <a:noFill/>
        </p:spPr>
        <p:txBody>
          <a:bodyPr wrap="none" lIns="18288" tIns="18288" rIns="18288" bIns="18288" anchor="t">
            <a:spAutoFit/>
          </a:bodyPr>
          <a:lstStyle/>
          <a:p>
            <a:pPr algn="l"/>
            <a:r>
              <a:rPr sz="1600" b="1" i="0" dirty="0">
                <a:solidFill>
                  <a:srgbClr val="E85B30"/>
                </a:solidFill>
                <a:latin typeface="Aptos"/>
              </a:rPr>
              <a:t>WHAT AI DOES</a:t>
            </a:r>
          </a:p>
        </p:txBody>
      </p:sp>
      <p:sp>
        <p:nvSpPr>
          <p:cNvPr id="12" name="TextBox 11"/>
          <p:cNvSpPr txBox="1"/>
          <p:nvPr/>
        </p:nvSpPr>
        <p:spPr>
          <a:xfrm>
            <a:off x="4398264" y="2386584"/>
            <a:ext cx="3127248" cy="2499146"/>
          </a:xfrm>
          <a:prstGeom prst="rect">
            <a:avLst/>
          </a:prstGeom>
          <a:noFill/>
        </p:spPr>
        <p:txBody>
          <a:bodyPr wrap="square" lIns="18288" tIns="18288" rIns="18288" bIns="18288" anchor="t">
            <a:spAutoFit/>
          </a:bodyPr>
          <a:lstStyle/>
          <a:p>
            <a:pPr algn="l"/>
            <a:r>
              <a:rPr sz="1600" b="0" i="0" dirty="0">
                <a:solidFill>
                  <a:srgbClr val="1E1D1C"/>
                </a:solidFill>
                <a:latin typeface="Aptos"/>
              </a:rPr>
              <a:t>A trained temporal classifier consumes 2048-D feature windows and predicts:
0 → NORMAL
1 → VIOLENCE / FIGHT
Temporal scores can be merged into incident windows for playback synchronization.</a:t>
            </a:r>
          </a:p>
        </p:txBody>
      </p:sp>
      <p:sp>
        <p:nvSpPr>
          <p:cNvPr id="13" name="Rectangle 12"/>
          <p:cNvSpPr/>
          <p:nvPr/>
        </p:nvSpPr>
        <p:spPr>
          <a:xfrm>
            <a:off x="7991856" y="1874519"/>
            <a:ext cx="3712463" cy="34290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2020824"/>
            <a:ext cx="1035605" cy="283154"/>
          </a:xfrm>
          <a:prstGeom prst="rect">
            <a:avLst/>
          </a:prstGeom>
          <a:noFill/>
        </p:spPr>
        <p:txBody>
          <a:bodyPr wrap="none" lIns="18288" tIns="18288" rIns="18288" bIns="18288" anchor="t">
            <a:spAutoFit/>
          </a:bodyPr>
          <a:lstStyle/>
          <a:p>
            <a:pPr algn="l"/>
            <a:r>
              <a:rPr sz="1600" b="1" i="0">
                <a:solidFill>
                  <a:srgbClr val="E85B30"/>
                </a:solidFill>
                <a:latin typeface="Aptos"/>
              </a:rPr>
              <a:t>AI OUTPUT</a:t>
            </a:r>
          </a:p>
        </p:txBody>
      </p:sp>
      <p:sp>
        <p:nvSpPr>
          <p:cNvPr id="15" name="TextBox 14"/>
          <p:cNvSpPr txBox="1"/>
          <p:nvPr/>
        </p:nvSpPr>
        <p:spPr>
          <a:xfrm>
            <a:off x="8156448" y="2386584"/>
            <a:ext cx="3383279" cy="2499146"/>
          </a:xfrm>
          <a:prstGeom prst="rect">
            <a:avLst/>
          </a:prstGeom>
          <a:noFill/>
        </p:spPr>
        <p:txBody>
          <a:bodyPr wrap="square" lIns="18288" tIns="18288" rIns="18288" bIns="18288" anchor="t">
            <a:spAutoFit/>
          </a:bodyPr>
          <a:lstStyle/>
          <a:p>
            <a:pPr algn="l"/>
            <a:r>
              <a:rPr sz="1600" b="0" i="0" dirty="0">
                <a:solidFill>
                  <a:srgbClr val="1E1D1C"/>
                </a:solidFill>
                <a:latin typeface="Aptos"/>
              </a:rPr>
              <a:t>For the current model:
• Class label
• Fight probability / confidence
• Temporal detection window
• Timestamp for UI seeking
Important: the current checkpoint does NOT support all 13 UCF-Crime anomaly categories.</a:t>
            </a:r>
          </a:p>
        </p:txBody>
      </p:sp>
      <p:sp>
        <p:nvSpPr>
          <p:cNvPr id="16" name="TextBox 15"/>
          <p:cNvSpPr txBox="1"/>
          <p:nvPr/>
        </p:nvSpPr>
        <p:spPr>
          <a:xfrm>
            <a:off x="475488" y="5614416"/>
            <a:ext cx="1639744" cy="221599"/>
          </a:xfrm>
          <a:prstGeom prst="rect">
            <a:avLst/>
          </a:prstGeom>
          <a:noFill/>
        </p:spPr>
        <p:txBody>
          <a:bodyPr wrap="none" lIns="18288" tIns="18288" rIns="18288" bIns="18288" anchor="t">
            <a:spAutoFit/>
          </a:bodyPr>
          <a:lstStyle/>
          <a:p>
            <a:pPr algn="l"/>
            <a:r>
              <a:rPr sz="1200" b="1" i="0" dirty="0">
                <a:solidFill>
                  <a:srgbClr val="E85B30"/>
                </a:solidFill>
                <a:latin typeface="Aptos"/>
              </a:rPr>
              <a:t>HUMAN INVOLVEMENT</a:t>
            </a:r>
          </a:p>
        </p:txBody>
      </p:sp>
      <p:sp>
        <p:nvSpPr>
          <p:cNvPr id="17" name="TextBox 16"/>
          <p:cNvSpPr txBox="1"/>
          <p:nvPr/>
        </p:nvSpPr>
        <p:spPr>
          <a:xfrm>
            <a:off x="2115232" y="5614416"/>
            <a:ext cx="8121069" cy="221599"/>
          </a:xfrm>
          <a:prstGeom prst="rect">
            <a:avLst/>
          </a:prstGeom>
          <a:noFill/>
        </p:spPr>
        <p:txBody>
          <a:bodyPr wrap="none" lIns="18288" tIns="18288" rIns="18288" bIns="18288" anchor="t">
            <a:spAutoFit/>
          </a:bodyPr>
          <a:lstStyle/>
          <a:p>
            <a:pPr algn="l"/>
            <a:r>
              <a:rPr sz="1200" b="0" i="0" dirty="0">
                <a:solidFill>
                  <a:srgbClr val="1E1D1C"/>
                </a:solidFill>
                <a:latin typeface="Aptos"/>
              </a:rPr>
              <a:t>A human reviewer verifies the flagged segment; model output is decision support, not an automatic enforcement decision.</a:t>
            </a:r>
          </a:p>
        </p:txBody>
      </p:sp>
      <p:sp>
        <p:nvSpPr>
          <p:cNvPr id="18" name="TextBox 17"/>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07</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Technology</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The current implementation and clearly marked next integrations.</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3456432"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0824"/>
            <a:ext cx="1089786" cy="283154"/>
          </a:xfrm>
          <a:prstGeom prst="rect">
            <a:avLst/>
          </a:prstGeom>
          <a:noFill/>
        </p:spPr>
        <p:txBody>
          <a:bodyPr wrap="none" lIns="18288" tIns="18288" rIns="18288" bIns="18288" anchor="t">
            <a:spAutoFit/>
          </a:bodyPr>
          <a:lstStyle/>
          <a:p>
            <a:pPr algn="l"/>
            <a:r>
              <a:rPr sz="1600" b="1" i="0" dirty="0">
                <a:solidFill>
                  <a:srgbClr val="E85B30"/>
                </a:solidFill>
                <a:latin typeface="Aptos"/>
              </a:rPr>
              <a:t>FRONTEND</a:t>
            </a:r>
          </a:p>
        </p:txBody>
      </p:sp>
      <p:sp>
        <p:nvSpPr>
          <p:cNvPr id="9" name="TextBox 8"/>
          <p:cNvSpPr txBox="1"/>
          <p:nvPr/>
        </p:nvSpPr>
        <p:spPr>
          <a:xfrm>
            <a:off x="640080" y="2386584"/>
            <a:ext cx="2897543" cy="1021818"/>
          </a:xfrm>
          <a:prstGeom prst="rect">
            <a:avLst/>
          </a:prstGeom>
          <a:noFill/>
        </p:spPr>
        <p:txBody>
          <a:bodyPr wrap="square" lIns="18288" tIns="18288" rIns="18288" bIns="18288" anchor="t">
            <a:spAutoFit/>
          </a:bodyPr>
          <a:lstStyle/>
          <a:p>
            <a:pPr algn="l"/>
            <a:r>
              <a:rPr sz="1600" b="0" i="0" dirty="0">
                <a:solidFill>
                  <a:srgbClr val="1E1D1C"/>
                </a:solidFill>
                <a:latin typeface="Aptos"/>
              </a:rPr>
              <a:t>Web-based surveillance dashboard
Existing </a:t>
            </a:r>
            <a:r>
              <a:rPr sz="1600" b="0" i="0" dirty="0" err="1">
                <a:solidFill>
                  <a:srgbClr val="1E1D1C"/>
                </a:solidFill>
                <a:latin typeface="Aptos"/>
              </a:rPr>
              <a:t>MadhvaMinds</a:t>
            </a:r>
            <a:r>
              <a:rPr sz="1600" b="0" i="0" dirty="0">
                <a:solidFill>
                  <a:srgbClr val="1E1D1C"/>
                </a:solidFill>
                <a:latin typeface="Aptos"/>
              </a:rPr>
              <a:t> UI in the VS Code project.</a:t>
            </a:r>
          </a:p>
        </p:txBody>
      </p:sp>
      <p:sp>
        <p:nvSpPr>
          <p:cNvPr id="10" name="Rectangle 9"/>
          <p:cNvSpPr/>
          <p:nvPr/>
        </p:nvSpPr>
        <p:spPr>
          <a:xfrm>
            <a:off x="4233672" y="1874519"/>
            <a:ext cx="3456432"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98264" y="2020824"/>
            <a:ext cx="967765" cy="283154"/>
          </a:xfrm>
          <a:prstGeom prst="rect">
            <a:avLst/>
          </a:prstGeom>
          <a:noFill/>
        </p:spPr>
        <p:txBody>
          <a:bodyPr wrap="none" lIns="18288" tIns="18288" rIns="18288" bIns="18288" anchor="t">
            <a:spAutoFit/>
          </a:bodyPr>
          <a:lstStyle/>
          <a:p>
            <a:pPr algn="l"/>
            <a:r>
              <a:rPr sz="1600" b="1" i="0">
                <a:solidFill>
                  <a:srgbClr val="E85B30"/>
                </a:solidFill>
                <a:latin typeface="Aptos"/>
              </a:rPr>
              <a:t>BACKEND</a:t>
            </a:r>
          </a:p>
        </p:txBody>
      </p:sp>
      <p:sp>
        <p:nvSpPr>
          <p:cNvPr id="12" name="TextBox 11"/>
          <p:cNvSpPr txBox="1"/>
          <p:nvPr/>
        </p:nvSpPr>
        <p:spPr>
          <a:xfrm>
            <a:off x="4398264" y="2386584"/>
            <a:ext cx="3016987" cy="1021818"/>
          </a:xfrm>
          <a:prstGeom prst="rect">
            <a:avLst/>
          </a:prstGeom>
          <a:noFill/>
        </p:spPr>
        <p:txBody>
          <a:bodyPr wrap="square" lIns="18288" tIns="18288" rIns="18288" bIns="18288" anchor="t">
            <a:spAutoFit/>
          </a:bodyPr>
          <a:lstStyle/>
          <a:p>
            <a:pPr algn="l"/>
            <a:r>
              <a:rPr sz="1600" b="0" i="0" dirty="0">
                <a:solidFill>
                  <a:srgbClr val="1E1D1C"/>
                </a:solidFill>
                <a:latin typeface="Aptos"/>
              </a:rPr>
              <a:t>Python-based model/inference service
Handles temporal inference and detection results.</a:t>
            </a:r>
          </a:p>
        </p:txBody>
      </p:sp>
      <p:sp>
        <p:nvSpPr>
          <p:cNvPr id="13" name="Rectangle 12"/>
          <p:cNvSpPr/>
          <p:nvPr/>
        </p:nvSpPr>
        <p:spPr>
          <a:xfrm>
            <a:off x="7991856" y="1874519"/>
            <a:ext cx="3456432"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2020824"/>
            <a:ext cx="1199111" cy="283154"/>
          </a:xfrm>
          <a:prstGeom prst="rect">
            <a:avLst/>
          </a:prstGeom>
          <a:noFill/>
        </p:spPr>
        <p:txBody>
          <a:bodyPr wrap="none" lIns="18288" tIns="18288" rIns="18288" bIns="18288" anchor="t">
            <a:spAutoFit/>
          </a:bodyPr>
          <a:lstStyle/>
          <a:p>
            <a:pPr algn="l"/>
            <a:r>
              <a:rPr sz="1600" b="1" i="0">
                <a:solidFill>
                  <a:srgbClr val="E85B30"/>
                </a:solidFill>
                <a:latin typeface="Aptos"/>
              </a:rPr>
              <a:t>AI / MODELS</a:t>
            </a:r>
          </a:p>
        </p:txBody>
      </p:sp>
      <p:sp>
        <p:nvSpPr>
          <p:cNvPr id="15" name="TextBox 14"/>
          <p:cNvSpPr txBox="1"/>
          <p:nvPr/>
        </p:nvSpPr>
        <p:spPr>
          <a:xfrm>
            <a:off x="8156448" y="2386584"/>
            <a:ext cx="3029932" cy="775597"/>
          </a:xfrm>
          <a:prstGeom prst="rect">
            <a:avLst/>
          </a:prstGeom>
          <a:noFill/>
        </p:spPr>
        <p:txBody>
          <a:bodyPr wrap="square" lIns="18288" tIns="18288" rIns="18288" bIns="18288" anchor="t">
            <a:spAutoFit/>
          </a:bodyPr>
          <a:lstStyle/>
          <a:p>
            <a:pPr algn="l"/>
            <a:r>
              <a:rPr sz="1600" b="0" i="0" dirty="0">
                <a:solidFill>
                  <a:srgbClr val="1E1D1C"/>
                </a:solidFill>
                <a:latin typeface="Aptos"/>
              </a:rPr>
              <a:t>Pre-extracted I3D 2048-D features
</a:t>
            </a:r>
            <a:r>
              <a:rPr sz="1600" b="0" i="0" dirty="0" err="1">
                <a:solidFill>
                  <a:srgbClr val="1E1D1C"/>
                </a:solidFill>
                <a:latin typeface="Aptos"/>
              </a:rPr>
              <a:t>TemporalViolenceClassifier</a:t>
            </a:r>
            <a:r>
              <a:rPr sz="1600" b="0" i="0" dirty="0">
                <a:solidFill>
                  <a:srgbClr val="1E1D1C"/>
                </a:solidFill>
                <a:latin typeface="Aptos"/>
              </a:rPr>
              <a:t>
best_violence_model.pt</a:t>
            </a:r>
          </a:p>
        </p:txBody>
      </p:sp>
      <p:sp>
        <p:nvSpPr>
          <p:cNvPr id="16" name="Rectangle 15"/>
          <p:cNvSpPr/>
          <p:nvPr/>
        </p:nvSpPr>
        <p:spPr>
          <a:xfrm>
            <a:off x="475488" y="3840480"/>
            <a:ext cx="3456432"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86784"/>
            <a:ext cx="1006494" cy="283154"/>
          </a:xfrm>
          <a:prstGeom prst="rect">
            <a:avLst/>
          </a:prstGeom>
          <a:noFill/>
        </p:spPr>
        <p:txBody>
          <a:bodyPr wrap="none" lIns="18288" tIns="18288" rIns="18288" bIns="18288" anchor="t">
            <a:spAutoFit/>
          </a:bodyPr>
          <a:lstStyle/>
          <a:p>
            <a:pPr algn="l"/>
            <a:r>
              <a:rPr sz="1600" b="1" i="0">
                <a:solidFill>
                  <a:srgbClr val="E85B30"/>
                </a:solidFill>
                <a:latin typeface="Aptos"/>
              </a:rPr>
              <a:t>DATABASE</a:t>
            </a:r>
          </a:p>
        </p:txBody>
      </p:sp>
      <p:sp>
        <p:nvSpPr>
          <p:cNvPr id="18" name="TextBox 17"/>
          <p:cNvSpPr txBox="1"/>
          <p:nvPr/>
        </p:nvSpPr>
        <p:spPr>
          <a:xfrm>
            <a:off x="640081" y="4352544"/>
            <a:ext cx="3081019" cy="1021818"/>
          </a:xfrm>
          <a:prstGeom prst="rect">
            <a:avLst/>
          </a:prstGeom>
          <a:noFill/>
        </p:spPr>
        <p:txBody>
          <a:bodyPr wrap="square" lIns="18288" tIns="18288" rIns="18288" bIns="18288" anchor="t">
            <a:spAutoFit/>
          </a:bodyPr>
          <a:lstStyle/>
          <a:p>
            <a:pPr algn="l"/>
            <a:r>
              <a:rPr sz="1600" b="0" i="0" dirty="0">
                <a:solidFill>
                  <a:srgbClr val="1E1D1C"/>
                </a:solidFill>
                <a:latin typeface="Aptos"/>
              </a:rPr>
              <a:t>Current demo uses dataset/model files and local project state.
Persistent incident DB: future scope.</a:t>
            </a:r>
          </a:p>
        </p:txBody>
      </p:sp>
      <p:sp>
        <p:nvSpPr>
          <p:cNvPr id="19" name="Rectangle 18"/>
          <p:cNvSpPr/>
          <p:nvPr/>
        </p:nvSpPr>
        <p:spPr>
          <a:xfrm>
            <a:off x="4233672" y="3840480"/>
            <a:ext cx="3456432"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98264" y="3986784"/>
            <a:ext cx="2047676" cy="283154"/>
          </a:xfrm>
          <a:prstGeom prst="rect">
            <a:avLst/>
          </a:prstGeom>
          <a:noFill/>
        </p:spPr>
        <p:txBody>
          <a:bodyPr wrap="none" lIns="18288" tIns="18288" rIns="18288" bIns="18288" anchor="t">
            <a:spAutoFit/>
          </a:bodyPr>
          <a:lstStyle/>
          <a:p>
            <a:pPr algn="l"/>
            <a:r>
              <a:rPr sz="1600" b="1" i="0">
                <a:solidFill>
                  <a:srgbClr val="E85B30"/>
                </a:solidFill>
                <a:latin typeface="Aptos"/>
              </a:rPr>
              <a:t>APIS / INTEGRATIONS</a:t>
            </a:r>
          </a:p>
        </p:txBody>
      </p:sp>
      <p:sp>
        <p:nvSpPr>
          <p:cNvPr id="21" name="TextBox 20"/>
          <p:cNvSpPr txBox="1"/>
          <p:nvPr/>
        </p:nvSpPr>
        <p:spPr>
          <a:xfrm>
            <a:off x="4398264" y="4352544"/>
            <a:ext cx="4887685" cy="529376"/>
          </a:xfrm>
          <a:prstGeom prst="rect">
            <a:avLst/>
          </a:prstGeom>
          <a:noFill/>
        </p:spPr>
        <p:txBody>
          <a:bodyPr wrap="none" lIns="18288" tIns="18288" rIns="18288" bIns="18288" anchor="t">
            <a:spAutoFit/>
          </a:bodyPr>
          <a:lstStyle/>
          <a:p>
            <a:pPr algn="l"/>
            <a:r>
              <a:rPr sz="1600" b="0" i="0">
                <a:solidFill>
                  <a:srgbClr val="1E1D1C"/>
                </a:solidFill>
                <a:latin typeface="Aptos"/>
              </a:rPr>
              <a:t>Hugging Face dataset: jinmang2/ucf-crime-tencrop-i3d
UCF-Crime research dataset reference.</a:t>
            </a:r>
          </a:p>
        </p:txBody>
      </p:sp>
      <p:sp>
        <p:nvSpPr>
          <p:cNvPr id="22" name="Rectangle 21"/>
          <p:cNvSpPr/>
          <p:nvPr/>
        </p:nvSpPr>
        <p:spPr>
          <a:xfrm>
            <a:off x="7991856" y="3840480"/>
            <a:ext cx="3456432"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56448" y="3986784"/>
            <a:ext cx="1329979" cy="283154"/>
          </a:xfrm>
          <a:prstGeom prst="rect">
            <a:avLst/>
          </a:prstGeom>
          <a:noFill/>
        </p:spPr>
        <p:txBody>
          <a:bodyPr wrap="none" lIns="18288" tIns="18288" rIns="18288" bIns="18288" anchor="t">
            <a:spAutoFit/>
          </a:bodyPr>
          <a:lstStyle/>
          <a:p>
            <a:pPr algn="l"/>
            <a:r>
              <a:rPr sz="1600" b="1" i="0">
                <a:solidFill>
                  <a:srgbClr val="E85B30"/>
                </a:solidFill>
                <a:latin typeface="Aptos"/>
              </a:rPr>
              <a:t>DEPLOYMENT</a:t>
            </a:r>
          </a:p>
        </p:txBody>
      </p:sp>
      <p:sp>
        <p:nvSpPr>
          <p:cNvPr id="24" name="TextBox 23"/>
          <p:cNvSpPr txBox="1"/>
          <p:nvPr/>
        </p:nvSpPr>
        <p:spPr>
          <a:xfrm>
            <a:off x="8156449" y="4352544"/>
            <a:ext cx="3029932" cy="775597"/>
          </a:xfrm>
          <a:prstGeom prst="rect">
            <a:avLst/>
          </a:prstGeom>
          <a:noFill/>
        </p:spPr>
        <p:txBody>
          <a:bodyPr wrap="square" lIns="18288" tIns="18288" rIns="18288" bIns="18288" anchor="t">
            <a:spAutoFit/>
          </a:bodyPr>
          <a:lstStyle/>
          <a:p>
            <a:pPr algn="l"/>
            <a:r>
              <a:rPr sz="1600" b="0" i="0">
                <a:solidFill>
                  <a:srgbClr val="1E1D1C"/>
                </a:solidFill>
                <a:latin typeface="Aptos"/>
              </a:rPr>
              <a:t>Current: local development in VS Code / Windows.
Cloud deployment: future scope.</a:t>
            </a:r>
          </a:p>
        </p:txBody>
      </p:sp>
      <p:sp>
        <p:nvSpPr>
          <p:cNvPr id="25" name="TextBox 24"/>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08</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MVP scope</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What ships in the demo, and what does not.</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1865376"/>
            <a:ext cx="1212768" cy="283154"/>
          </a:xfrm>
          <a:prstGeom prst="rect">
            <a:avLst/>
          </a:prstGeom>
          <a:noFill/>
        </p:spPr>
        <p:txBody>
          <a:bodyPr wrap="none" lIns="18288" tIns="18288" rIns="18288" bIns="18288" anchor="t">
            <a:spAutoFit/>
          </a:bodyPr>
          <a:lstStyle/>
          <a:p>
            <a:pPr algn="l"/>
            <a:r>
              <a:rPr sz="1600" b="1" i="0" dirty="0">
                <a:solidFill>
                  <a:srgbClr val="E85B30"/>
                </a:solidFill>
                <a:latin typeface="Aptos"/>
              </a:rPr>
              <a:t>MUST WORK</a:t>
            </a:r>
          </a:p>
        </p:txBody>
      </p:sp>
      <p:sp>
        <p:nvSpPr>
          <p:cNvPr id="8" name="Rectangle 7"/>
          <p:cNvSpPr/>
          <p:nvPr/>
        </p:nvSpPr>
        <p:spPr>
          <a:xfrm>
            <a:off x="475488" y="2176272"/>
            <a:ext cx="2514600" cy="3749039"/>
          </a:xfrm>
          <a:prstGeom prst="rect">
            <a:avLst/>
          </a:prstGeom>
          <a:solidFill>
            <a:srgbClr val="F6EFEB"/>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23160"/>
            <a:ext cx="2148840" cy="2745367"/>
          </a:xfrm>
          <a:prstGeom prst="rect">
            <a:avLst/>
          </a:prstGeom>
          <a:noFill/>
        </p:spPr>
        <p:txBody>
          <a:bodyPr wrap="square" lIns="18288" tIns="18288" rIns="18288" bIns="18288" anchor="t">
            <a:spAutoFit/>
          </a:bodyPr>
          <a:lstStyle/>
          <a:p>
            <a:r>
              <a:rPr sz="1600" b="0" i="0" dirty="0">
                <a:solidFill>
                  <a:srgbClr val="1E1D1C"/>
                </a:solidFill>
                <a:latin typeface="Aptos"/>
              </a:rPr>
              <a:t>• Select a real dataset video
• Run the current trained classifier
• Show NORMAL / FIGHTING output
• Show timestamp + confidence
• Keep detections isolated to the current video</a:t>
            </a:r>
          </a:p>
        </p:txBody>
      </p:sp>
      <p:sp>
        <p:nvSpPr>
          <p:cNvPr id="10" name="TextBox 9"/>
          <p:cNvSpPr txBox="1"/>
          <p:nvPr/>
        </p:nvSpPr>
        <p:spPr>
          <a:xfrm>
            <a:off x="3328416" y="1865376"/>
            <a:ext cx="1495089" cy="283154"/>
          </a:xfrm>
          <a:prstGeom prst="rect">
            <a:avLst/>
          </a:prstGeom>
          <a:noFill/>
        </p:spPr>
        <p:txBody>
          <a:bodyPr wrap="none" lIns="18288" tIns="18288" rIns="18288" bIns="18288" anchor="t">
            <a:spAutoFit/>
          </a:bodyPr>
          <a:lstStyle/>
          <a:p>
            <a:pPr algn="l"/>
            <a:r>
              <a:rPr sz="1600" b="1" i="0">
                <a:solidFill>
                  <a:srgbClr val="E85B30"/>
                </a:solidFill>
                <a:latin typeface="Aptos"/>
              </a:rPr>
              <a:t>SHOULD WORK</a:t>
            </a:r>
          </a:p>
        </p:txBody>
      </p:sp>
      <p:sp>
        <p:nvSpPr>
          <p:cNvPr id="11" name="Rectangle 10"/>
          <p:cNvSpPr/>
          <p:nvPr/>
        </p:nvSpPr>
        <p:spPr>
          <a:xfrm>
            <a:off x="3328416" y="2176272"/>
            <a:ext cx="2514600" cy="3749039"/>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93008" y="2423160"/>
            <a:ext cx="2148840" cy="1760482"/>
          </a:xfrm>
          <a:prstGeom prst="rect">
            <a:avLst/>
          </a:prstGeom>
          <a:noFill/>
        </p:spPr>
        <p:txBody>
          <a:bodyPr wrap="square" lIns="18288" tIns="18288" rIns="18288" bIns="18288" anchor="t">
            <a:spAutoFit/>
          </a:bodyPr>
          <a:lstStyle/>
          <a:p>
            <a:pPr algn="l"/>
            <a:r>
              <a:rPr sz="1600" b="0" i="0" dirty="0">
                <a:solidFill>
                  <a:srgbClr val="1E1D1C"/>
                </a:solidFill>
                <a:latin typeface="Aptos"/>
              </a:rPr>
              <a:t>• Synchronize alert overlay with </a:t>
            </a:r>
            <a:r>
              <a:rPr sz="1600" b="0" i="0" dirty="0" err="1">
                <a:solidFill>
                  <a:srgbClr val="1E1D1C"/>
                </a:solidFill>
                <a:latin typeface="Aptos"/>
              </a:rPr>
              <a:t>video.currentTime</a:t>
            </a:r>
            <a:r>
              <a:rPr sz="1600" b="0" i="0" dirty="0">
                <a:solidFill>
                  <a:srgbClr val="1E1D1C"/>
                </a:solidFill>
                <a:latin typeface="Aptos"/>
              </a:rPr>
              <a:t>
• Click alert → seek to incident
• Re-analyze the selected video</a:t>
            </a:r>
          </a:p>
        </p:txBody>
      </p:sp>
      <p:sp>
        <p:nvSpPr>
          <p:cNvPr id="13" name="TextBox 12"/>
          <p:cNvSpPr txBox="1"/>
          <p:nvPr/>
        </p:nvSpPr>
        <p:spPr>
          <a:xfrm>
            <a:off x="6181344" y="1865376"/>
            <a:ext cx="1352550" cy="283154"/>
          </a:xfrm>
          <a:prstGeom prst="rect">
            <a:avLst/>
          </a:prstGeom>
          <a:noFill/>
        </p:spPr>
        <p:txBody>
          <a:bodyPr wrap="none" lIns="18288" tIns="18288" rIns="18288" bIns="18288" anchor="t">
            <a:spAutoFit/>
          </a:bodyPr>
          <a:lstStyle/>
          <a:p>
            <a:pPr algn="l"/>
            <a:r>
              <a:rPr sz="1600" b="1" i="0">
                <a:solidFill>
                  <a:srgbClr val="7D7B79"/>
                </a:solidFill>
                <a:latin typeface="Aptos"/>
              </a:rPr>
              <a:t>NICE TO HAVE</a:t>
            </a:r>
          </a:p>
        </p:txBody>
      </p:sp>
      <p:sp>
        <p:nvSpPr>
          <p:cNvPr id="14" name="Rectangle 13"/>
          <p:cNvSpPr/>
          <p:nvPr/>
        </p:nvSpPr>
        <p:spPr>
          <a:xfrm>
            <a:off x="6181344" y="2176272"/>
            <a:ext cx="2514600" cy="3749039"/>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5936" y="2423160"/>
            <a:ext cx="2148840" cy="1021818"/>
          </a:xfrm>
          <a:prstGeom prst="rect">
            <a:avLst/>
          </a:prstGeom>
          <a:noFill/>
        </p:spPr>
        <p:txBody>
          <a:bodyPr wrap="square" lIns="18288" tIns="18288" rIns="18288" bIns="18288" anchor="t">
            <a:spAutoFit/>
          </a:bodyPr>
          <a:lstStyle/>
          <a:p>
            <a:pPr algn="l"/>
            <a:r>
              <a:rPr sz="1600" b="0" i="0" dirty="0">
                <a:solidFill>
                  <a:srgbClr val="1E1D1C"/>
                </a:solidFill>
                <a:latin typeface="Aptos"/>
              </a:rPr>
              <a:t>• Incident history
• Charts and analytics
• Exportable detection report</a:t>
            </a:r>
          </a:p>
        </p:txBody>
      </p:sp>
      <p:sp>
        <p:nvSpPr>
          <p:cNvPr id="16" name="TextBox 15"/>
          <p:cNvSpPr txBox="1"/>
          <p:nvPr/>
        </p:nvSpPr>
        <p:spPr>
          <a:xfrm>
            <a:off x="9034272" y="1865376"/>
            <a:ext cx="1800365" cy="283154"/>
          </a:xfrm>
          <a:prstGeom prst="rect">
            <a:avLst/>
          </a:prstGeom>
          <a:noFill/>
        </p:spPr>
        <p:txBody>
          <a:bodyPr wrap="none" lIns="18288" tIns="18288" rIns="18288" bIns="18288" anchor="t">
            <a:spAutoFit/>
          </a:bodyPr>
          <a:lstStyle/>
          <a:p>
            <a:pPr algn="l"/>
            <a:r>
              <a:rPr sz="1600" b="1" i="0">
                <a:solidFill>
                  <a:srgbClr val="7D7B79"/>
                </a:solidFill>
                <a:latin typeface="Aptos"/>
              </a:rPr>
              <a:t>NOT BUILDING YET</a:t>
            </a:r>
          </a:p>
        </p:txBody>
      </p:sp>
      <p:sp>
        <p:nvSpPr>
          <p:cNvPr id="17" name="Rectangle 16"/>
          <p:cNvSpPr/>
          <p:nvPr/>
        </p:nvSpPr>
        <p:spPr>
          <a:xfrm>
            <a:off x="9034272" y="2176272"/>
            <a:ext cx="2514600" cy="3749039"/>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2423160"/>
            <a:ext cx="2148840" cy="2252924"/>
          </a:xfrm>
          <a:prstGeom prst="rect">
            <a:avLst/>
          </a:prstGeom>
          <a:noFill/>
        </p:spPr>
        <p:txBody>
          <a:bodyPr wrap="square" lIns="18288" tIns="18288" rIns="18288" bIns="18288" anchor="t">
            <a:spAutoFit/>
          </a:bodyPr>
          <a:lstStyle/>
          <a:p>
            <a:r>
              <a:rPr sz="1600" b="0" i="0" dirty="0">
                <a:solidFill>
                  <a:srgbClr val="1E1D1C"/>
                </a:solidFill>
                <a:latin typeface="Aptos"/>
              </a:rPr>
              <a:t>• Webcam as the primary demo path
• Unsupported multiclass claims
• Fake/random incidents
• Hardcoded timestamps or confidence values</a:t>
            </a:r>
          </a:p>
        </p:txBody>
      </p:sp>
      <p:sp>
        <p:nvSpPr>
          <p:cNvPr id="19" name="TextBox 18"/>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09</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Validation</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Evidence from the current model and product iteration; external-user validation is still a gap.</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3456432" cy="3886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0824"/>
            <a:ext cx="2028953" cy="283154"/>
          </a:xfrm>
          <a:prstGeom prst="rect">
            <a:avLst/>
          </a:prstGeom>
          <a:noFill/>
        </p:spPr>
        <p:txBody>
          <a:bodyPr wrap="none" lIns="18288" tIns="18288" rIns="18288" bIns="18288" anchor="t">
            <a:spAutoFit/>
          </a:bodyPr>
          <a:lstStyle/>
          <a:p>
            <a:pPr algn="l"/>
            <a:r>
              <a:rPr sz="1600" b="1" i="0" dirty="0">
                <a:solidFill>
                  <a:srgbClr val="E85B30"/>
                </a:solidFill>
                <a:latin typeface="Aptos"/>
              </a:rPr>
              <a:t>WHAT WE VALIDATED</a:t>
            </a:r>
          </a:p>
        </p:txBody>
      </p:sp>
      <p:sp>
        <p:nvSpPr>
          <p:cNvPr id="9" name="TextBox 8"/>
          <p:cNvSpPr txBox="1"/>
          <p:nvPr/>
        </p:nvSpPr>
        <p:spPr>
          <a:xfrm>
            <a:off x="640080" y="2386584"/>
            <a:ext cx="3127248" cy="2745367"/>
          </a:xfrm>
          <a:prstGeom prst="rect">
            <a:avLst/>
          </a:prstGeom>
          <a:noFill/>
        </p:spPr>
        <p:txBody>
          <a:bodyPr wrap="square" lIns="18288" tIns="18288" rIns="18288" bIns="18288" anchor="t">
            <a:spAutoFit/>
          </a:bodyPr>
          <a:lstStyle/>
          <a:p>
            <a:pPr algn="l"/>
            <a:r>
              <a:rPr sz="1600" b="0" i="0" dirty="0">
                <a:solidFill>
                  <a:srgbClr val="1E1D1C"/>
                </a:solidFill>
                <a:latin typeface="Aptos"/>
              </a:rPr>
              <a:t>Model evaluation currently reported:
Accuracy  76.67%
F1 Score  77.42%
Precision 75.00%
Recall    80.00%
These metrics describe the current binary classifier, not all UCF-Crime classes.</a:t>
            </a:r>
          </a:p>
        </p:txBody>
      </p:sp>
      <p:sp>
        <p:nvSpPr>
          <p:cNvPr id="10" name="Rectangle 9"/>
          <p:cNvSpPr/>
          <p:nvPr/>
        </p:nvSpPr>
        <p:spPr>
          <a:xfrm>
            <a:off x="4233672" y="1874519"/>
            <a:ext cx="3456432" cy="3886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98264" y="2020824"/>
            <a:ext cx="1883272" cy="283154"/>
          </a:xfrm>
          <a:prstGeom prst="rect">
            <a:avLst/>
          </a:prstGeom>
          <a:noFill/>
        </p:spPr>
        <p:txBody>
          <a:bodyPr wrap="none" lIns="18288" tIns="18288" rIns="18288" bIns="18288" anchor="t">
            <a:spAutoFit/>
          </a:bodyPr>
          <a:lstStyle/>
          <a:p>
            <a:pPr algn="l"/>
            <a:r>
              <a:rPr sz="1600" b="1" i="0">
                <a:solidFill>
                  <a:srgbClr val="E85B30"/>
                </a:solidFill>
                <a:latin typeface="Aptos"/>
              </a:rPr>
              <a:t>WHAT WE LEARNED</a:t>
            </a:r>
          </a:p>
        </p:txBody>
      </p:sp>
      <p:sp>
        <p:nvSpPr>
          <p:cNvPr id="12" name="TextBox 11"/>
          <p:cNvSpPr txBox="1"/>
          <p:nvPr/>
        </p:nvSpPr>
        <p:spPr>
          <a:xfrm>
            <a:off x="4398264" y="2386584"/>
            <a:ext cx="3127248" cy="2252924"/>
          </a:xfrm>
          <a:prstGeom prst="rect">
            <a:avLst/>
          </a:prstGeom>
          <a:noFill/>
        </p:spPr>
        <p:txBody>
          <a:bodyPr wrap="square" lIns="18288" tIns="18288" rIns="18288" bIns="18288" anchor="t">
            <a:spAutoFit/>
          </a:bodyPr>
          <a:lstStyle/>
          <a:p>
            <a:pPr algn="l"/>
            <a:r>
              <a:rPr sz="1600" b="0" i="0">
                <a:solidFill>
                  <a:srgbClr val="1E1D1C"/>
                </a:solidFill>
                <a:latin typeface="Aptos"/>
              </a:rPr>
              <a:t>Technical iterations showed that:
• Webcam and dataset simulation must be separated.
• Alerts must belong to the selected video only.
• Model confidence must not be called “accuracy”.
• A real timestamp is more useful than a generic graph.</a:t>
            </a:r>
          </a:p>
        </p:txBody>
      </p:sp>
      <p:sp>
        <p:nvSpPr>
          <p:cNvPr id="13" name="Rectangle 12"/>
          <p:cNvSpPr/>
          <p:nvPr/>
        </p:nvSpPr>
        <p:spPr>
          <a:xfrm>
            <a:off x="7991856" y="1874519"/>
            <a:ext cx="3712463" cy="3886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2020824"/>
            <a:ext cx="1971437" cy="283154"/>
          </a:xfrm>
          <a:prstGeom prst="rect">
            <a:avLst/>
          </a:prstGeom>
          <a:noFill/>
        </p:spPr>
        <p:txBody>
          <a:bodyPr wrap="none" lIns="18288" tIns="18288" rIns="18288" bIns="18288" anchor="t">
            <a:spAutoFit/>
          </a:bodyPr>
          <a:lstStyle/>
          <a:p>
            <a:pPr algn="l"/>
            <a:r>
              <a:rPr sz="1600" b="1" i="0">
                <a:solidFill>
                  <a:srgbClr val="E85B30"/>
                </a:solidFill>
                <a:latin typeface="Aptos"/>
              </a:rPr>
              <a:t>WHAT WE CHANGED</a:t>
            </a:r>
          </a:p>
        </p:txBody>
      </p:sp>
      <p:sp>
        <p:nvSpPr>
          <p:cNvPr id="15" name="TextBox 14"/>
          <p:cNvSpPr txBox="1"/>
          <p:nvPr/>
        </p:nvSpPr>
        <p:spPr>
          <a:xfrm>
            <a:off x="8156448" y="2386584"/>
            <a:ext cx="3383279" cy="2499146"/>
          </a:xfrm>
          <a:prstGeom prst="rect">
            <a:avLst/>
          </a:prstGeom>
          <a:noFill/>
        </p:spPr>
        <p:txBody>
          <a:bodyPr wrap="square" lIns="18288" tIns="18288" rIns="18288" bIns="18288" anchor="t">
            <a:spAutoFit/>
          </a:bodyPr>
          <a:lstStyle/>
          <a:p>
            <a:pPr algn="l"/>
            <a:r>
              <a:rPr sz="1600" b="0" i="0">
                <a:solidFill>
                  <a:srgbClr val="1E1D1C"/>
                </a:solidFill>
                <a:latin typeface="Aptos"/>
              </a:rPr>
              <a:t>The product direction was refined toward:
• Real UCF-Crime MP4 simulation
• Video-specific detection state
• Timestamp-based incident seeking
• In-video alert overlay
• No synthetic / random incidents
External end-user study: not yet documented.</a:t>
            </a:r>
          </a:p>
        </p:txBody>
      </p:sp>
      <p:sp>
        <p:nvSpPr>
          <p:cNvPr id="16" name="TextBox 15"/>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10</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Differentiation</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Why our approach, and not only a raw model output.</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3456432" cy="3977639"/>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0824"/>
            <a:ext cx="2068323" cy="283154"/>
          </a:xfrm>
          <a:prstGeom prst="rect">
            <a:avLst/>
          </a:prstGeom>
          <a:noFill/>
        </p:spPr>
        <p:txBody>
          <a:bodyPr wrap="none" lIns="18288" tIns="18288" rIns="18288" bIns="18288" anchor="t">
            <a:spAutoFit/>
          </a:bodyPr>
          <a:lstStyle/>
          <a:p>
            <a:pPr algn="l"/>
            <a:r>
              <a:rPr sz="1600" b="1" i="0">
                <a:solidFill>
                  <a:srgbClr val="E85B30"/>
                </a:solidFill>
                <a:latin typeface="Aptos"/>
              </a:rPr>
              <a:t>EXISTING SOLUTIONS</a:t>
            </a:r>
          </a:p>
        </p:txBody>
      </p:sp>
      <p:sp>
        <p:nvSpPr>
          <p:cNvPr id="9" name="TextBox 8"/>
          <p:cNvSpPr txBox="1"/>
          <p:nvPr/>
        </p:nvSpPr>
        <p:spPr>
          <a:xfrm>
            <a:off x="640080" y="2386584"/>
            <a:ext cx="3127248" cy="2252924"/>
          </a:xfrm>
          <a:prstGeom prst="rect">
            <a:avLst/>
          </a:prstGeom>
          <a:noFill/>
        </p:spPr>
        <p:txBody>
          <a:bodyPr wrap="square" lIns="18288" tIns="18288" rIns="18288" bIns="18288" anchor="t">
            <a:spAutoFit/>
          </a:bodyPr>
          <a:lstStyle/>
          <a:p>
            <a:pPr algn="l"/>
            <a:r>
              <a:rPr sz="1600" b="0" i="0" dirty="0">
                <a:solidFill>
                  <a:srgbClr val="1E1D1C"/>
                </a:solidFill>
                <a:latin typeface="Aptos"/>
              </a:rPr>
              <a:t>• Manual CCTV review — human scans long recordings.
• Generic motion/activity alerts — may create noisy events without useful temporal review context.
• Research-only anomaly models — often emphasize benchmark scores rather than an operator-facing workflow.</a:t>
            </a:r>
          </a:p>
        </p:txBody>
      </p:sp>
      <p:sp>
        <p:nvSpPr>
          <p:cNvPr id="10" name="Rectangle 9"/>
          <p:cNvSpPr/>
          <p:nvPr/>
        </p:nvSpPr>
        <p:spPr>
          <a:xfrm>
            <a:off x="4233672" y="1874519"/>
            <a:ext cx="3456432" cy="3977639"/>
          </a:xfrm>
          <a:prstGeom prst="rect">
            <a:avLst/>
          </a:prstGeom>
          <a:solidFill>
            <a:srgbClr val="F6EFEB"/>
          </a:solidFill>
          <a:ln w="12700">
            <a:solidFill>
              <a:srgbClr val="E85B3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98264" y="2020824"/>
            <a:ext cx="1567289" cy="283154"/>
          </a:xfrm>
          <a:prstGeom prst="rect">
            <a:avLst/>
          </a:prstGeom>
          <a:noFill/>
        </p:spPr>
        <p:txBody>
          <a:bodyPr wrap="none" lIns="18288" tIns="18288" rIns="18288" bIns="18288" anchor="t">
            <a:spAutoFit/>
          </a:bodyPr>
          <a:lstStyle/>
          <a:p>
            <a:pPr algn="l"/>
            <a:r>
              <a:rPr sz="1600" b="1" i="0">
                <a:solidFill>
                  <a:srgbClr val="E85B30"/>
                </a:solidFill>
                <a:latin typeface="Aptos"/>
              </a:rPr>
              <a:t>OUR APPROACH</a:t>
            </a:r>
          </a:p>
        </p:txBody>
      </p:sp>
      <p:sp>
        <p:nvSpPr>
          <p:cNvPr id="12" name="TextBox 11"/>
          <p:cNvSpPr txBox="1"/>
          <p:nvPr/>
        </p:nvSpPr>
        <p:spPr>
          <a:xfrm>
            <a:off x="4398264" y="2386584"/>
            <a:ext cx="3127248" cy="2006703"/>
          </a:xfrm>
          <a:prstGeom prst="rect">
            <a:avLst/>
          </a:prstGeom>
          <a:noFill/>
        </p:spPr>
        <p:txBody>
          <a:bodyPr wrap="square" lIns="18288" tIns="18288" rIns="18288" bIns="18288" anchor="t">
            <a:spAutoFit/>
          </a:bodyPr>
          <a:lstStyle/>
          <a:p>
            <a:pPr algn="l"/>
            <a:r>
              <a:rPr sz="1600" b="0" i="0">
                <a:solidFill>
                  <a:srgbClr val="1E1D1C"/>
                </a:solidFill>
                <a:latin typeface="Aptos"/>
              </a:rPr>
              <a:t>• Uses UCF-Crime-derived temporal features.
• Applies a trained temporal classifier.
• Converts predictions into timestamped incident windows.
• Connects those windows to the video player and incident list.</a:t>
            </a:r>
          </a:p>
        </p:txBody>
      </p:sp>
      <p:sp>
        <p:nvSpPr>
          <p:cNvPr id="13" name="Rectangle 12"/>
          <p:cNvSpPr/>
          <p:nvPr/>
        </p:nvSpPr>
        <p:spPr>
          <a:xfrm>
            <a:off x="7991856" y="1874519"/>
            <a:ext cx="3712463" cy="3977639"/>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2020824"/>
            <a:ext cx="1671996" cy="283154"/>
          </a:xfrm>
          <a:prstGeom prst="rect">
            <a:avLst/>
          </a:prstGeom>
          <a:noFill/>
        </p:spPr>
        <p:txBody>
          <a:bodyPr wrap="none" lIns="18288" tIns="18288" rIns="18288" bIns="18288" anchor="t">
            <a:spAutoFit/>
          </a:bodyPr>
          <a:lstStyle/>
          <a:p>
            <a:pPr algn="l"/>
            <a:r>
              <a:rPr sz="1600" b="1" i="0">
                <a:solidFill>
                  <a:srgbClr val="E85B30"/>
                </a:solidFill>
                <a:latin typeface="Aptos"/>
              </a:rPr>
              <a:t>WHY IT IS BETTER</a:t>
            </a:r>
          </a:p>
        </p:txBody>
      </p:sp>
      <p:sp>
        <p:nvSpPr>
          <p:cNvPr id="15" name="TextBox 14"/>
          <p:cNvSpPr txBox="1"/>
          <p:nvPr/>
        </p:nvSpPr>
        <p:spPr>
          <a:xfrm>
            <a:off x="8156448" y="2386584"/>
            <a:ext cx="3383279" cy="2499146"/>
          </a:xfrm>
          <a:prstGeom prst="rect">
            <a:avLst/>
          </a:prstGeom>
          <a:noFill/>
        </p:spPr>
        <p:txBody>
          <a:bodyPr wrap="square" lIns="18288" tIns="18288" rIns="18288" bIns="18288" anchor="t">
            <a:spAutoFit/>
          </a:bodyPr>
          <a:lstStyle/>
          <a:p>
            <a:pPr algn="l"/>
            <a:r>
              <a:rPr sz="1600" b="0" i="0">
                <a:solidFill>
                  <a:srgbClr val="1E1D1C"/>
                </a:solidFill>
                <a:latin typeface="Aptos"/>
              </a:rPr>
              <a:t>The product-level advantage is the review workflow:
MODEL SCORE → INCIDENT WINDOW → TIMESTAMP → VIDEO SEEK → HUMAN REVIEW
The current strength is integration and traceability, not a claim of state-of-the-art accuracy.</a:t>
            </a:r>
          </a:p>
        </p:txBody>
      </p:sp>
      <p:sp>
        <p:nvSpPr>
          <p:cNvPr id="16" name="TextBox 15"/>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11</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Business &amp; impact</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Who benefits, who could pay, and what this can become.</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5349240"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20824"/>
            <a:ext cx="1430905" cy="283154"/>
          </a:xfrm>
          <a:prstGeom prst="rect">
            <a:avLst/>
          </a:prstGeom>
          <a:noFill/>
        </p:spPr>
        <p:txBody>
          <a:bodyPr wrap="none" lIns="18288" tIns="18288" rIns="18288" bIns="18288" anchor="t">
            <a:spAutoFit/>
          </a:bodyPr>
          <a:lstStyle/>
          <a:p>
            <a:pPr algn="l"/>
            <a:r>
              <a:rPr sz="1600" b="1" i="0">
                <a:solidFill>
                  <a:srgbClr val="E85B30"/>
                </a:solidFill>
                <a:latin typeface="Aptos"/>
              </a:rPr>
              <a:t>TARGET USERS</a:t>
            </a:r>
          </a:p>
        </p:txBody>
      </p:sp>
      <p:sp>
        <p:nvSpPr>
          <p:cNvPr id="9" name="TextBox 8"/>
          <p:cNvSpPr txBox="1"/>
          <p:nvPr/>
        </p:nvSpPr>
        <p:spPr>
          <a:xfrm>
            <a:off x="640080" y="2386584"/>
            <a:ext cx="5020055" cy="775597"/>
          </a:xfrm>
          <a:prstGeom prst="rect">
            <a:avLst/>
          </a:prstGeom>
          <a:noFill/>
        </p:spPr>
        <p:txBody>
          <a:bodyPr wrap="square" lIns="18288" tIns="18288" rIns="18288" bIns="18288" anchor="t">
            <a:spAutoFit/>
          </a:bodyPr>
          <a:lstStyle/>
          <a:p>
            <a:pPr algn="l"/>
            <a:r>
              <a:rPr sz="1600" b="0" i="0">
                <a:solidFill>
                  <a:srgbClr val="1E1D1C"/>
                </a:solidFill>
                <a:latin typeface="Aptos"/>
              </a:rPr>
              <a:t>Security operators, facility/campus monitoring teams, CCTV review teams, and organizations with large surveillance archives.</a:t>
            </a:r>
          </a:p>
        </p:txBody>
      </p:sp>
      <p:sp>
        <p:nvSpPr>
          <p:cNvPr id="10" name="Rectangle 9"/>
          <p:cNvSpPr/>
          <p:nvPr/>
        </p:nvSpPr>
        <p:spPr>
          <a:xfrm>
            <a:off x="6355080" y="1874519"/>
            <a:ext cx="5349240"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9672" y="2020824"/>
            <a:ext cx="2313262" cy="283154"/>
          </a:xfrm>
          <a:prstGeom prst="rect">
            <a:avLst/>
          </a:prstGeom>
          <a:noFill/>
        </p:spPr>
        <p:txBody>
          <a:bodyPr wrap="none" lIns="18288" tIns="18288" rIns="18288" bIns="18288" anchor="t">
            <a:spAutoFit/>
          </a:bodyPr>
          <a:lstStyle/>
          <a:p>
            <a:pPr algn="l"/>
            <a:r>
              <a:rPr sz="1600" b="1" i="0">
                <a:solidFill>
                  <a:srgbClr val="E85B30"/>
                </a:solidFill>
                <a:latin typeface="Aptos"/>
              </a:rPr>
              <a:t>POTENTIAL CUSTOMERS</a:t>
            </a:r>
          </a:p>
        </p:txBody>
      </p:sp>
      <p:sp>
        <p:nvSpPr>
          <p:cNvPr id="12" name="TextBox 11"/>
          <p:cNvSpPr txBox="1"/>
          <p:nvPr/>
        </p:nvSpPr>
        <p:spPr>
          <a:xfrm>
            <a:off x="6519672" y="2386584"/>
            <a:ext cx="5020055" cy="529376"/>
          </a:xfrm>
          <a:prstGeom prst="rect">
            <a:avLst/>
          </a:prstGeom>
          <a:noFill/>
        </p:spPr>
        <p:txBody>
          <a:bodyPr wrap="square" lIns="18288" tIns="18288" rIns="18288" bIns="18288" anchor="t">
            <a:spAutoFit/>
          </a:bodyPr>
          <a:lstStyle/>
          <a:p>
            <a:pPr algn="l"/>
            <a:r>
              <a:rPr sz="1600" b="0" i="0">
                <a:solidFill>
                  <a:srgbClr val="1E1D1C"/>
                </a:solidFill>
                <a:latin typeface="Aptos"/>
              </a:rPr>
              <a:t>Campuses, malls, offices, industrial facilities, transport hubs, and security service providers.</a:t>
            </a:r>
          </a:p>
        </p:txBody>
      </p:sp>
      <p:sp>
        <p:nvSpPr>
          <p:cNvPr id="13" name="Rectangle 12"/>
          <p:cNvSpPr/>
          <p:nvPr/>
        </p:nvSpPr>
        <p:spPr>
          <a:xfrm>
            <a:off x="475488" y="3703320"/>
            <a:ext cx="5349240"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849624"/>
            <a:ext cx="2608086" cy="283154"/>
          </a:xfrm>
          <a:prstGeom prst="rect">
            <a:avLst/>
          </a:prstGeom>
          <a:noFill/>
        </p:spPr>
        <p:txBody>
          <a:bodyPr wrap="none" lIns="18288" tIns="18288" rIns="18288" bIns="18288" anchor="t">
            <a:spAutoFit/>
          </a:bodyPr>
          <a:lstStyle/>
          <a:p>
            <a:pPr algn="l"/>
            <a:r>
              <a:rPr sz="1600" b="1" i="0">
                <a:solidFill>
                  <a:srgbClr val="E85B30"/>
                </a:solidFill>
                <a:latin typeface="Aptos"/>
              </a:rPr>
              <a:t>BUSINESS MODEL / IMPACT</a:t>
            </a:r>
          </a:p>
        </p:txBody>
      </p:sp>
      <p:sp>
        <p:nvSpPr>
          <p:cNvPr id="15" name="TextBox 14"/>
          <p:cNvSpPr txBox="1"/>
          <p:nvPr/>
        </p:nvSpPr>
        <p:spPr>
          <a:xfrm>
            <a:off x="640080" y="4215383"/>
            <a:ext cx="5020055" cy="775597"/>
          </a:xfrm>
          <a:prstGeom prst="rect">
            <a:avLst/>
          </a:prstGeom>
          <a:noFill/>
        </p:spPr>
        <p:txBody>
          <a:bodyPr wrap="square" lIns="18288" tIns="18288" rIns="18288" bIns="18288" anchor="t">
            <a:spAutoFit/>
          </a:bodyPr>
          <a:lstStyle/>
          <a:p>
            <a:pPr algn="l"/>
            <a:r>
              <a:rPr sz="1600" b="0" i="0" dirty="0">
                <a:solidFill>
                  <a:srgbClr val="1E1D1C"/>
                </a:solidFill>
                <a:latin typeface="Aptos"/>
              </a:rPr>
              <a:t>Potential B2B deployment or subscription model. Social impact: reduce review time and help humans notice potentially important events sooner.</a:t>
            </a:r>
          </a:p>
        </p:txBody>
      </p:sp>
      <p:sp>
        <p:nvSpPr>
          <p:cNvPr id="16" name="Rectangle 15"/>
          <p:cNvSpPr/>
          <p:nvPr/>
        </p:nvSpPr>
        <p:spPr>
          <a:xfrm>
            <a:off x="6355080" y="3703320"/>
            <a:ext cx="5349240" cy="1600200"/>
          </a:xfrm>
          <a:prstGeom prst="rect">
            <a:avLst/>
          </a:prstGeom>
          <a:solidFill>
            <a:srgbClr val="E9EFF1"/>
          </a:solidFill>
          <a:ln w="12700">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9672" y="3849624"/>
            <a:ext cx="2566728" cy="283154"/>
          </a:xfrm>
          <a:prstGeom prst="rect">
            <a:avLst/>
          </a:prstGeom>
          <a:noFill/>
        </p:spPr>
        <p:txBody>
          <a:bodyPr wrap="none" lIns="18288" tIns="18288" rIns="18288" bIns="18288" anchor="t">
            <a:spAutoFit/>
          </a:bodyPr>
          <a:lstStyle/>
          <a:p>
            <a:pPr algn="l"/>
            <a:r>
              <a:rPr sz="1600" b="1" i="0">
                <a:solidFill>
                  <a:srgbClr val="E85B30"/>
                </a:solidFill>
                <a:latin typeface="Aptos"/>
              </a:rPr>
              <a:t>LONG-TERM OPPORTUNITY</a:t>
            </a:r>
          </a:p>
        </p:txBody>
      </p:sp>
      <p:sp>
        <p:nvSpPr>
          <p:cNvPr id="18" name="TextBox 17"/>
          <p:cNvSpPr txBox="1"/>
          <p:nvPr/>
        </p:nvSpPr>
        <p:spPr>
          <a:xfrm>
            <a:off x="6519672" y="4215383"/>
            <a:ext cx="5020055" cy="1021818"/>
          </a:xfrm>
          <a:prstGeom prst="rect">
            <a:avLst/>
          </a:prstGeom>
          <a:noFill/>
        </p:spPr>
        <p:txBody>
          <a:bodyPr wrap="square" lIns="18288" tIns="18288" rIns="18288" bIns="18288" anchor="t">
            <a:spAutoFit/>
          </a:bodyPr>
          <a:lstStyle/>
          <a:p>
            <a:pPr algn="l"/>
            <a:r>
              <a:rPr sz="1600" b="0" i="0">
                <a:solidFill>
                  <a:srgbClr val="1E1D1C"/>
                </a:solidFill>
                <a:latin typeface="Aptos"/>
              </a:rPr>
              <a:t>Expand from binary fight detection to validated multiclass UCF-Crime categories, add live camera inference, incident storage, role-based access, and measurable alert-quality monitoring.</a:t>
            </a:r>
          </a:p>
        </p:txBody>
      </p:sp>
      <p:sp>
        <p:nvSpPr>
          <p:cNvPr id="19" name="TextBox 18"/>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12</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Architecture</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How data moves from the dataset/model layer to the operator UI.</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2148840"/>
            <a:ext cx="2148840" cy="1143000"/>
          </a:xfrm>
          <a:prstGeom prst="round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5146" y="2481858"/>
            <a:ext cx="1598706" cy="467820"/>
          </a:xfrm>
          <a:prstGeom prst="rect">
            <a:avLst/>
          </a:prstGeom>
          <a:noFill/>
        </p:spPr>
        <p:txBody>
          <a:bodyPr wrap="none" lIns="18288" tIns="18288" rIns="18288" bIns="18288" anchor="ctr">
            <a:spAutoFit/>
          </a:bodyPr>
          <a:lstStyle/>
          <a:p>
            <a:pPr algn="ctr"/>
            <a:r>
              <a:rPr sz="1400" b="1" i="0">
                <a:solidFill>
                  <a:srgbClr val="1E1D1C"/>
                </a:solidFill>
                <a:latin typeface="Aptos"/>
              </a:rPr>
              <a:t>UCF-Crime / HF
I3D feature dataset</a:t>
            </a:r>
          </a:p>
        </p:txBody>
      </p:sp>
      <p:sp>
        <p:nvSpPr>
          <p:cNvPr id="9" name="Rounded Rectangle 8"/>
          <p:cNvSpPr/>
          <p:nvPr/>
        </p:nvSpPr>
        <p:spPr>
          <a:xfrm>
            <a:off x="2971800" y="2148840"/>
            <a:ext cx="2148840" cy="1143000"/>
          </a:xfrm>
          <a:prstGeom prst="round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91398" y="2374136"/>
            <a:ext cx="1509644" cy="683264"/>
          </a:xfrm>
          <a:prstGeom prst="rect">
            <a:avLst/>
          </a:prstGeom>
          <a:noFill/>
        </p:spPr>
        <p:txBody>
          <a:bodyPr wrap="none" lIns="18288" tIns="18288" rIns="18288" bIns="18288" anchor="ctr">
            <a:spAutoFit/>
          </a:bodyPr>
          <a:lstStyle/>
          <a:p>
            <a:pPr algn="ctr"/>
            <a:r>
              <a:rPr sz="1400" b="1" i="0" dirty="0">
                <a:solidFill>
                  <a:srgbClr val="1E1D1C"/>
                </a:solidFill>
                <a:latin typeface="Aptos"/>
              </a:rPr>
              <a:t>Training
</a:t>
            </a:r>
            <a:r>
              <a:rPr sz="1400" b="1" i="0" dirty="0" err="1">
                <a:solidFill>
                  <a:srgbClr val="1E1D1C"/>
                </a:solidFill>
                <a:latin typeface="Aptos"/>
              </a:rPr>
              <a:t>TemporalViolence</a:t>
            </a:r>
            <a:endParaRPr lang="en-IN" sz="1400" b="1" i="0" dirty="0">
              <a:solidFill>
                <a:srgbClr val="1E1D1C"/>
              </a:solidFill>
              <a:latin typeface="Aptos"/>
            </a:endParaRPr>
          </a:p>
          <a:p>
            <a:pPr algn="ctr"/>
            <a:r>
              <a:rPr sz="1400" b="1" i="0" dirty="0">
                <a:solidFill>
                  <a:srgbClr val="1E1D1C"/>
                </a:solidFill>
                <a:latin typeface="Aptos"/>
              </a:rPr>
              <a:t>Classifier</a:t>
            </a:r>
          </a:p>
        </p:txBody>
      </p:sp>
      <p:sp>
        <p:nvSpPr>
          <p:cNvPr id="11" name="Rounded Rectangle 10"/>
          <p:cNvSpPr/>
          <p:nvPr/>
        </p:nvSpPr>
        <p:spPr>
          <a:xfrm>
            <a:off x="5486400" y="2148840"/>
            <a:ext cx="2148840" cy="1143000"/>
          </a:xfrm>
          <a:prstGeom prst="roundRect">
            <a:avLst/>
          </a:prstGeom>
          <a:solidFill>
            <a:srgbClr val="F6EFEB"/>
          </a:solidFill>
          <a:ln>
            <a:solidFill>
              <a:srgbClr val="E85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59649" y="2481858"/>
            <a:ext cx="2002343" cy="467820"/>
          </a:xfrm>
          <a:prstGeom prst="rect">
            <a:avLst/>
          </a:prstGeom>
          <a:noFill/>
        </p:spPr>
        <p:txBody>
          <a:bodyPr wrap="none" lIns="18288" tIns="18288" rIns="18288" bIns="18288" anchor="ctr">
            <a:spAutoFit/>
          </a:bodyPr>
          <a:lstStyle/>
          <a:p>
            <a:pPr algn="ctr"/>
            <a:r>
              <a:rPr sz="1400" b="1" i="0">
                <a:solidFill>
                  <a:srgbClr val="1E1D1C"/>
                </a:solidFill>
                <a:latin typeface="Aptos"/>
              </a:rPr>
              <a:t>Checkpoint
best_violence_model.pt</a:t>
            </a:r>
          </a:p>
        </p:txBody>
      </p:sp>
      <p:sp>
        <p:nvSpPr>
          <p:cNvPr id="13" name="Rounded Rectangle 12"/>
          <p:cNvSpPr/>
          <p:nvPr/>
        </p:nvSpPr>
        <p:spPr>
          <a:xfrm>
            <a:off x="8001000" y="2148840"/>
            <a:ext cx="2148840" cy="1143000"/>
          </a:xfrm>
          <a:prstGeom prst="round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8156" y="2481858"/>
            <a:ext cx="1554528" cy="467820"/>
          </a:xfrm>
          <a:prstGeom prst="rect">
            <a:avLst/>
          </a:prstGeom>
          <a:noFill/>
        </p:spPr>
        <p:txBody>
          <a:bodyPr wrap="none" lIns="18288" tIns="18288" rIns="18288" bIns="18288" anchor="ctr">
            <a:spAutoFit/>
          </a:bodyPr>
          <a:lstStyle/>
          <a:p>
            <a:pPr algn="ctr"/>
            <a:r>
              <a:rPr sz="1400" b="1" i="0">
                <a:solidFill>
                  <a:srgbClr val="1E1D1C"/>
                </a:solidFill>
                <a:latin typeface="Aptos"/>
              </a:rPr>
              <a:t>Inference service
Temporal windows</a:t>
            </a:r>
          </a:p>
        </p:txBody>
      </p:sp>
      <p:sp>
        <p:nvSpPr>
          <p:cNvPr id="15" name="Rounded Rectangle 14"/>
          <p:cNvSpPr/>
          <p:nvPr/>
        </p:nvSpPr>
        <p:spPr>
          <a:xfrm>
            <a:off x="4572000" y="4434840"/>
            <a:ext cx="2148840" cy="1143000"/>
          </a:xfrm>
          <a:prstGeom prst="round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50043" y="4767857"/>
            <a:ext cx="1392753" cy="467820"/>
          </a:xfrm>
          <a:prstGeom prst="rect">
            <a:avLst/>
          </a:prstGeom>
          <a:noFill/>
        </p:spPr>
        <p:txBody>
          <a:bodyPr wrap="none" lIns="18288" tIns="18288" rIns="18288" bIns="18288" anchor="ctr">
            <a:spAutoFit/>
          </a:bodyPr>
          <a:lstStyle/>
          <a:p>
            <a:pPr algn="ctr"/>
            <a:r>
              <a:rPr sz="1400" b="1" i="0">
                <a:solidFill>
                  <a:srgbClr val="1E1D1C"/>
                </a:solidFill>
                <a:latin typeface="Aptos"/>
              </a:rPr>
              <a:t>MadhvaMinds UI
Video + alerts</a:t>
            </a:r>
          </a:p>
        </p:txBody>
      </p:sp>
      <p:cxnSp>
        <p:nvCxnSpPr>
          <p:cNvPr id="17" name="Connector 16"/>
          <p:cNvCxnSpPr/>
          <p:nvPr/>
        </p:nvCxnSpPr>
        <p:spPr>
          <a:xfrm>
            <a:off x="2788920" y="2724912"/>
            <a:ext cx="182880" cy="0"/>
          </a:xfrm>
          <a:prstGeom prst="line">
            <a:avLst/>
          </a:prstGeom>
          <a:ln w="20320">
            <a:solidFill>
              <a:srgbClr val="E85B3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120640" y="2724912"/>
            <a:ext cx="365760" cy="0"/>
          </a:xfrm>
          <a:prstGeom prst="line">
            <a:avLst/>
          </a:prstGeom>
          <a:ln w="20320">
            <a:solidFill>
              <a:srgbClr val="E85B3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635240" y="2724912"/>
            <a:ext cx="365760" cy="0"/>
          </a:xfrm>
          <a:prstGeom prst="line">
            <a:avLst/>
          </a:prstGeom>
          <a:ln w="20320">
            <a:solidFill>
              <a:srgbClr val="E85B3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989320" y="3291840"/>
            <a:ext cx="3081528" cy="1143000"/>
          </a:xfrm>
          <a:prstGeom prst="line">
            <a:avLst/>
          </a:prstGeom>
          <a:ln w="20320">
            <a:solidFill>
              <a:srgbClr val="E85B3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40080" y="4434840"/>
            <a:ext cx="2148840" cy="1143000"/>
          </a:xfrm>
          <a:prstGeom prst="roundRect">
            <a:avLst/>
          </a:prstGeom>
          <a:solidFill>
            <a:srgbClr val="EFF2F3"/>
          </a:solidFill>
          <a:ln>
            <a:solidFill>
              <a:srgbClr val="CAD2D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5974" y="4645152"/>
            <a:ext cx="1487908" cy="467820"/>
          </a:xfrm>
          <a:prstGeom prst="rect">
            <a:avLst/>
          </a:prstGeom>
          <a:noFill/>
        </p:spPr>
        <p:txBody>
          <a:bodyPr wrap="none" lIns="18288" tIns="18288" rIns="18288" bIns="18288" anchor="t">
            <a:spAutoFit/>
          </a:bodyPr>
          <a:lstStyle/>
          <a:p>
            <a:pPr algn="ctr"/>
            <a:r>
              <a:rPr sz="1400" b="1" i="0">
                <a:solidFill>
                  <a:srgbClr val="7D7B79"/>
                </a:solidFill>
                <a:latin typeface="Aptos"/>
              </a:rPr>
              <a:t>RAW MP4 → I3D
feature extraction</a:t>
            </a:r>
          </a:p>
        </p:txBody>
      </p:sp>
      <p:cxnSp>
        <p:nvCxnSpPr>
          <p:cNvPr id="23" name="Connector 22"/>
          <p:cNvCxnSpPr/>
          <p:nvPr/>
        </p:nvCxnSpPr>
        <p:spPr>
          <a:xfrm>
            <a:off x="2788920" y="5010912"/>
            <a:ext cx="1783080" cy="0"/>
          </a:xfrm>
          <a:prstGeom prst="line">
            <a:avLst/>
          </a:prstGeom>
          <a:ln w="20320">
            <a:solidFill>
              <a:srgbClr val="E85B3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341778" y="5833872"/>
            <a:ext cx="5660845" cy="252377"/>
          </a:xfrm>
          <a:prstGeom prst="rect">
            <a:avLst/>
          </a:prstGeom>
          <a:noFill/>
        </p:spPr>
        <p:txBody>
          <a:bodyPr wrap="none" lIns="18288" tIns="18288" rIns="18288" bIns="18288" anchor="t">
            <a:spAutoFit/>
          </a:bodyPr>
          <a:lstStyle/>
          <a:p>
            <a:pPr algn="ctr"/>
            <a:r>
              <a:rPr sz="1400" b="0" i="0" dirty="0">
                <a:solidFill>
                  <a:srgbClr val="7D7B79"/>
                </a:solidFill>
                <a:latin typeface="Aptos"/>
              </a:rPr>
              <a:t>Dashed path = integration step when raw-video I3D extraction is enabled.</a:t>
            </a:r>
          </a:p>
        </p:txBody>
      </p:sp>
      <p:sp>
        <p:nvSpPr>
          <p:cNvPr id="25" name="TextBox 24"/>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dirty="0" err="1">
                <a:solidFill>
                  <a:srgbClr val="7D7B79"/>
                </a:solidFill>
                <a:latin typeface="Aptos"/>
              </a:rPr>
              <a:t>MadhvaMinds</a:t>
            </a:r>
            <a:r>
              <a:rPr sz="750" b="0" i="0" dirty="0">
                <a:solidFill>
                  <a:srgbClr val="7D7B79"/>
                </a:solidFill>
                <a:latin typeface="Aptos"/>
              </a:rPr>
              <a:t> • UCF-Crime anomaly detection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F2F3"/>
        </a:solidFill>
        <a:effectLst/>
      </p:bgPr>
    </p:bg>
    <p:spTree>
      <p:nvGrpSpPr>
        <p:cNvPr id="1" name=""/>
        <p:cNvGrpSpPr/>
        <p:nvPr/>
      </p:nvGrpSpPr>
      <p:grpSpPr>
        <a:xfrm>
          <a:off x="0" y="0"/>
          <a:ext cx="0" cy="0"/>
          <a:chOff x="0" y="0"/>
          <a:chExt cx="0" cy="0"/>
        </a:xfrm>
      </p:grpSpPr>
      <p:pic>
        <p:nvPicPr>
          <p:cNvPr id="2" name="Picture 1" descr="udyogamitra_logo.png"/>
          <p:cNvPicPr>
            <a:picLocks noChangeAspect="1"/>
          </p:cNvPicPr>
          <p:nvPr/>
        </p:nvPicPr>
        <p:blipFill>
          <a:blip r:embed="rId3"/>
          <a:stretch>
            <a:fillRect/>
          </a:stretch>
        </p:blipFill>
        <p:spPr>
          <a:xfrm>
            <a:off x="9646920" y="164592"/>
            <a:ext cx="1572768" cy="558079"/>
          </a:xfrm>
          <a:prstGeom prst="rect">
            <a:avLst/>
          </a:prstGeom>
        </p:spPr>
      </p:pic>
      <p:sp>
        <p:nvSpPr>
          <p:cNvPr id="3" name="TextBox 2"/>
          <p:cNvSpPr txBox="1"/>
          <p:nvPr/>
        </p:nvSpPr>
        <p:spPr>
          <a:xfrm>
            <a:off x="475488" y="393192"/>
            <a:ext cx="1828800" cy="228600"/>
          </a:xfrm>
          <a:prstGeom prst="rect">
            <a:avLst/>
          </a:prstGeom>
          <a:noFill/>
        </p:spPr>
        <p:txBody>
          <a:bodyPr wrap="none" lIns="18288" tIns="18288" rIns="18288" bIns="18288" anchor="t">
            <a:spAutoFit/>
          </a:bodyPr>
          <a:lstStyle/>
          <a:p>
            <a:pPr algn="l"/>
            <a:r>
              <a:rPr sz="1000" b="1" i="0">
                <a:solidFill>
                  <a:srgbClr val="E85B30"/>
                </a:solidFill>
                <a:latin typeface="Aptos"/>
              </a:rPr>
              <a:t>SECTION 13</a:t>
            </a:r>
          </a:p>
        </p:txBody>
      </p:sp>
      <p:sp>
        <p:nvSpPr>
          <p:cNvPr id="4" name="TextBox 3"/>
          <p:cNvSpPr txBox="1"/>
          <p:nvPr/>
        </p:nvSpPr>
        <p:spPr>
          <a:xfrm>
            <a:off x="475488" y="658368"/>
            <a:ext cx="7132320" cy="502920"/>
          </a:xfrm>
          <a:prstGeom prst="rect">
            <a:avLst/>
          </a:prstGeom>
          <a:noFill/>
        </p:spPr>
        <p:txBody>
          <a:bodyPr wrap="none" lIns="18288" tIns="18288" rIns="18288" bIns="18288" anchor="t">
            <a:spAutoFit/>
          </a:bodyPr>
          <a:lstStyle/>
          <a:p>
            <a:pPr algn="l"/>
            <a:r>
              <a:rPr sz="2800" b="1" i="0">
                <a:solidFill>
                  <a:srgbClr val="1E1D1C"/>
                </a:solidFill>
                <a:latin typeface="Aptos"/>
              </a:rPr>
              <a:t>Execution plan</a:t>
            </a:r>
          </a:p>
        </p:txBody>
      </p:sp>
      <p:sp>
        <p:nvSpPr>
          <p:cNvPr id="5" name="TextBox 4"/>
          <p:cNvSpPr txBox="1"/>
          <p:nvPr/>
        </p:nvSpPr>
        <p:spPr>
          <a:xfrm>
            <a:off x="475488" y="1197864"/>
            <a:ext cx="9875520" cy="310896"/>
          </a:xfrm>
          <a:prstGeom prst="rect">
            <a:avLst/>
          </a:prstGeom>
          <a:noFill/>
        </p:spPr>
        <p:txBody>
          <a:bodyPr wrap="none" lIns="18288" tIns="18288" rIns="18288" bIns="18288" anchor="t">
            <a:spAutoFit/>
          </a:bodyPr>
          <a:lstStyle/>
          <a:p>
            <a:pPr algn="l"/>
            <a:r>
              <a:rPr sz="1200" b="0" i="0">
                <a:solidFill>
                  <a:srgbClr val="7D7B79"/>
                </a:solidFill>
                <a:latin typeface="Aptos"/>
              </a:rPr>
              <a:t>One accountable workstream per milestone.</a:t>
            </a:r>
          </a:p>
        </p:txBody>
      </p:sp>
      <p:sp>
        <p:nvSpPr>
          <p:cNvPr id="6" name="Rectangle 5"/>
          <p:cNvSpPr/>
          <p:nvPr/>
        </p:nvSpPr>
        <p:spPr>
          <a:xfrm>
            <a:off x="475488" y="1536192"/>
            <a:ext cx="11228832" cy="10972"/>
          </a:xfrm>
          <a:prstGeom prst="rect">
            <a:avLst/>
          </a:prstGeom>
          <a:solidFill>
            <a:srgbClr val="CAD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 y="1874519"/>
            <a:ext cx="11228832" cy="521207"/>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2011679"/>
            <a:ext cx="774827" cy="283154"/>
          </a:xfrm>
          <a:prstGeom prst="rect">
            <a:avLst/>
          </a:prstGeom>
          <a:noFill/>
        </p:spPr>
        <p:txBody>
          <a:bodyPr wrap="none" lIns="18288" tIns="18288" rIns="18288" bIns="18288" anchor="t">
            <a:spAutoFit/>
          </a:bodyPr>
          <a:lstStyle/>
          <a:p>
            <a:pPr algn="l"/>
            <a:r>
              <a:rPr sz="1600" b="1" i="0">
                <a:solidFill>
                  <a:srgbClr val="1E1D1C"/>
                </a:solidFill>
                <a:latin typeface="Aptos"/>
              </a:rPr>
              <a:t>Product</a:t>
            </a:r>
          </a:p>
        </p:txBody>
      </p:sp>
      <p:sp>
        <p:nvSpPr>
          <p:cNvPr id="9" name="TextBox 8"/>
          <p:cNvSpPr txBox="1"/>
          <p:nvPr/>
        </p:nvSpPr>
        <p:spPr>
          <a:xfrm>
            <a:off x="2560320" y="2011679"/>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10" name="TextBox 9"/>
          <p:cNvSpPr txBox="1"/>
          <p:nvPr/>
        </p:nvSpPr>
        <p:spPr>
          <a:xfrm>
            <a:off x="3886200" y="1984248"/>
            <a:ext cx="4927567" cy="283154"/>
          </a:xfrm>
          <a:prstGeom prst="rect">
            <a:avLst/>
          </a:prstGeom>
          <a:noFill/>
        </p:spPr>
        <p:txBody>
          <a:bodyPr wrap="none" lIns="18288" tIns="18288" rIns="18288" bIns="18288" anchor="t">
            <a:spAutoFit/>
          </a:bodyPr>
          <a:lstStyle/>
          <a:p>
            <a:pPr algn="l"/>
            <a:r>
              <a:rPr sz="1600" b="0" i="0">
                <a:solidFill>
                  <a:srgbClr val="1E1D1C"/>
                </a:solidFill>
                <a:latin typeface="Aptos"/>
              </a:rPr>
              <a:t>Scope locked: dataset simulation + incident review flow</a:t>
            </a:r>
          </a:p>
        </p:txBody>
      </p:sp>
      <p:sp>
        <p:nvSpPr>
          <p:cNvPr id="11" name="Rectangle 10"/>
          <p:cNvSpPr/>
          <p:nvPr/>
        </p:nvSpPr>
        <p:spPr>
          <a:xfrm>
            <a:off x="475488" y="2441448"/>
            <a:ext cx="11228832" cy="521207"/>
          </a:xfrm>
          <a:prstGeom prst="rect">
            <a:avLst/>
          </a:prstGeom>
          <a:solidFill>
            <a:srgbClr val="EFF2F3"/>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 y="2578608"/>
            <a:ext cx="679738" cy="283154"/>
          </a:xfrm>
          <a:prstGeom prst="rect">
            <a:avLst/>
          </a:prstGeom>
          <a:noFill/>
        </p:spPr>
        <p:txBody>
          <a:bodyPr wrap="none" lIns="18288" tIns="18288" rIns="18288" bIns="18288" anchor="t">
            <a:spAutoFit/>
          </a:bodyPr>
          <a:lstStyle/>
          <a:p>
            <a:pPr algn="l"/>
            <a:r>
              <a:rPr sz="1600" b="1" i="0">
                <a:solidFill>
                  <a:srgbClr val="1E1D1C"/>
                </a:solidFill>
                <a:latin typeface="Aptos"/>
              </a:rPr>
              <a:t>Design</a:t>
            </a:r>
          </a:p>
        </p:txBody>
      </p:sp>
      <p:sp>
        <p:nvSpPr>
          <p:cNvPr id="13" name="TextBox 12"/>
          <p:cNvSpPr txBox="1"/>
          <p:nvPr/>
        </p:nvSpPr>
        <p:spPr>
          <a:xfrm>
            <a:off x="2560320" y="2578608"/>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14" name="TextBox 13"/>
          <p:cNvSpPr txBox="1"/>
          <p:nvPr/>
        </p:nvSpPr>
        <p:spPr>
          <a:xfrm>
            <a:off x="3886200" y="2551176"/>
            <a:ext cx="4279761" cy="283154"/>
          </a:xfrm>
          <a:prstGeom prst="rect">
            <a:avLst/>
          </a:prstGeom>
          <a:noFill/>
        </p:spPr>
        <p:txBody>
          <a:bodyPr wrap="none" lIns="18288" tIns="18288" rIns="18288" bIns="18288" anchor="t">
            <a:spAutoFit/>
          </a:bodyPr>
          <a:lstStyle/>
          <a:p>
            <a:pPr algn="l"/>
            <a:r>
              <a:rPr sz="1600" b="0" i="0">
                <a:solidFill>
                  <a:srgbClr val="1E1D1C"/>
                </a:solidFill>
                <a:latin typeface="Aptos"/>
              </a:rPr>
              <a:t>Wireframes aligned to video-first incident review</a:t>
            </a:r>
          </a:p>
        </p:txBody>
      </p:sp>
      <p:sp>
        <p:nvSpPr>
          <p:cNvPr id="15" name="Rectangle 14"/>
          <p:cNvSpPr/>
          <p:nvPr/>
        </p:nvSpPr>
        <p:spPr>
          <a:xfrm>
            <a:off x="475488" y="3008376"/>
            <a:ext cx="11228832" cy="521207"/>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145536"/>
            <a:ext cx="880306" cy="283154"/>
          </a:xfrm>
          <a:prstGeom prst="rect">
            <a:avLst/>
          </a:prstGeom>
          <a:noFill/>
        </p:spPr>
        <p:txBody>
          <a:bodyPr wrap="none" lIns="18288" tIns="18288" rIns="18288" bIns="18288" anchor="t">
            <a:spAutoFit/>
          </a:bodyPr>
          <a:lstStyle/>
          <a:p>
            <a:pPr algn="l"/>
            <a:r>
              <a:rPr sz="1600" b="1" i="0">
                <a:solidFill>
                  <a:srgbClr val="1E1D1C"/>
                </a:solidFill>
                <a:latin typeface="Aptos"/>
              </a:rPr>
              <a:t>Frontend</a:t>
            </a:r>
          </a:p>
        </p:txBody>
      </p:sp>
      <p:sp>
        <p:nvSpPr>
          <p:cNvPr id="17" name="TextBox 16"/>
          <p:cNvSpPr txBox="1"/>
          <p:nvPr/>
        </p:nvSpPr>
        <p:spPr>
          <a:xfrm>
            <a:off x="2560320" y="3145536"/>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18" name="TextBox 17"/>
          <p:cNvSpPr txBox="1"/>
          <p:nvPr/>
        </p:nvSpPr>
        <p:spPr>
          <a:xfrm>
            <a:off x="3886200" y="3118104"/>
            <a:ext cx="4866204" cy="283154"/>
          </a:xfrm>
          <a:prstGeom prst="rect">
            <a:avLst/>
          </a:prstGeom>
          <a:noFill/>
        </p:spPr>
        <p:txBody>
          <a:bodyPr wrap="none" lIns="18288" tIns="18288" rIns="18288" bIns="18288" anchor="t">
            <a:spAutoFit/>
          </a:bodyPr>
          <a:lstStyle/>
          <a:p>
            <a:pPr algn="l"/>
            <a:r>
              <a:rPr sz="1600" b="0" i="0">
                <a:solidFill>
                  <a:srgbClr val="1E1D1C"/>
                </a:solidFill>
                <a:latin typeface="Aptos"/>
              </a:rPr>
              <a:t>Video player, selection, overlay and incident navigation</a:t>
            </a:r>
          </a:p>
        </p:txBody>
      </p:sp>
      <p:sp>
        <p:nvSpPr>
          <p:cNvPr id="19" name="Rectangle 18"/>
          <p:cNvSpPr/>
          <p:nvPr/>
        </p:nvSpPr>
        <p:spPr>
          <a:xfrm>
            <a:off x="475488" y="3575304"/>
            <a:ext cx="11228832" cy="521207"/>
          </a:xfrm>
          <a:prstGeom prst="rect">
            <a:avLst/>
          </a:prstGeom>
          <a:solidFill>
            <a:srgbClr val="EFF2F3"/>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3712464"/>
            <a:ext cx="846835" cy="283154"/>
          </a:xfrm>
          <a:prstGeom prst="rect">
            <a:avLst/>
          </a:prstGeom>
          <a:noFill/>
        </p:spPr>
        <p:txBody>
          <a:bodyPr wrap="none" lIns="18288" tIns="18288" rIns="18288" bIns="18288" anchor="t">
            <a:spAutoFit/>
          </a:bodyPr>
          <a:lstStyle/>
          <a:p>
            <a:pPr algn="l"/>
            <a:r>
              <a:rPr sz="1600" b="1" i="0">
                <a:solidFill>
                  <a:srgbClr val="1E1D1C"/>
                </a:solidFill>
                <a:latin typeface="Aptos"/>
              </a:rPr>
              <a:t>Backend</a:t>
            </a:r>
          </a:p>
        </p:txBody>
      </p:sp>
      <p:sp>
        <p:nvSpPr>
          <p:cNvPr id="21" name="TextBox 20"/>
          <p:cNvSpPr txBox="1"/>
          <p:nvPr/>
        </p:nvSpPr>
        <p:spPr>
          <a:xfrm>
            <a:off x="2560320" y="3712464"/>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22" name="TextBox 21"/>
          <p:cNvSpPr txBox="1"/>
          <p:nvPr/>
        </p:nvSpPr>
        <p:spPr>
          <a:xfrm>
            <a:off x="3886200" y="3685032"/>
            <a:ext cx="4751237" cy="283154"/>
          </a:xfrm>
          <a:prstGeom prst="rect">
            <a:avLst/>
          </a:prstGeom>
          <a:noFill/>
        </p:spPr>
        <p:txBody>
          <a:bodyPr wrap="none" lIns="18288" tIns="18288" rIns="18288" bIns="18288" anchor="t">
            <a:spAutoFit/>
          </a:bodyPr>
          <a:lstStyle/>
          <a:p>
            <a:pPr algn="l"/>
            <a:r>
              <a:rPr sz="1600" b="0" i="0">
                <a:solidFill>
                  <a:srgbClr val="1E1D1C"/>
                </a:solidFill>
                <a:latin typeface="Aptos"/>
              </a:rPr>
              <a:t>Inference endpoint and video-specific detection state</a:t>
            </a:r>
          </a:p>
        </p:txBody>
      </p:sp>
      <p:sp>
        <p:nvSpPr>
          <p:cNvPr id="23" name="Rectangle 22"/>
          <p:cNvSpPr/>
          <p:nvPr/>
        </p:nvSpPr>
        <p:spPr>
          <a:xfrm>
            <a:off x="475488" y="4142232"/>
            <a:ext cx="11228832" cy="521207"/>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 y="4279392"/>
            <a:ext cx="224485" cy="283154"/>
          </a:xfrm>
          <a:prstGeom prst="rect">
            <a:avLst/>
          </a:prstGeom>
          <a:noFill/>
        </p:spPr>
        <p:txBody>
          <a:bodyPr wrap="none" lIns="18288" tIns="18288" rIns="18288" bIns="18288" anchor="t">
            <a:spAutoFit/>
          </a:bodyPr>
          <a:lstStyle/>
          <a:p>
            <a:pPr algn="l"/>
            <a:r>
              <a:rPr sz="1600" b="1" i="0">
                <a:solidFill>
                  <a:srgbClr val="1E1D1C"/>
                </a:solidFill>
                <a:latin typeface="Aptos"/>
              </a:rPr>
              <a:t>AI</a:t>
            </a:r>
          </a:p>
        </p:txBody>
      </p:sp>
      <p:sp>
        <p:nvSpPr>
          <p:cNvPr id="25" name="TextBox 24"/>
          <p:cNvSpPr txBox="1"/>
          <p:nvPr/>
        </p:nvSpPr>
        <p:spPr>
          <a:xfrm>
            <a:off x="2560320" y="4279392"/>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26" name="TextBox 25"/>
          <p:cNvSpPr txBox="1"/>
          <p:nvPr/>
        </p:nvSpPr>
        <p:spPr>
          <a:xfrm>
            <a:off x="3886200" y="4251960"/>
            <a:ext cx="5633786" cy="283154"/>
          </a:xfrm>
          <a:prstGeom prst="rect">
            <a:avLst/>
          </a:prstGeom>
          <a:noFill/>
        </p:spPr>
        <p:txBody>
          <a:bodyPr wrap="none" lIns="18288" tIns="18288" rIns="18288" bIns="18288" anchor="t">
            <a:spAutoFit/>
          </a:bodyPr>
          <a:lstStyle/>
          <a:p>
            <a:pPr algn="l"/>
            <a:r>
              <a:rPr sz="1600" b="0" i="0">
                <a:solidFill>
                  <a:srgbClr val="1E1D1C"/>
                </a:solidFill>
                <a:latin typeface="Aptos"/>
              </a:rPr>
              <a:t>Binary temporal classifier producing usable fight/normal output</a:t>
            </a:r>
          </a:p>
        </p:txBody>
      </p:sp>
      <p:sp>
        <p:nvSpPr>
          <p:cNvPr id="27" name="Rectangle 26"/>
          <p:cNvSpPr/>
          <p:nvPr/>
        </p:nvSpPr>
        <p:spPr>
          <a:xfrm>
            <a:off x="475488" y="4709160"/>
            <a:ext cx="11228832" cy="521207"/>
          </a:xfrm>
          <a:prstGeom prst="rect">
            <a:avLst/>
          </a:prstGeom>
          <a:solidFill>
            <a:srgbClr val="EFF2F3"/>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4846320"/>
            <a:ext cx="693651" cy="283154"/>
          </a:xfrm>
          <a:prstGeom prst="rect">
            <a:avLst/>
          </a:prstGeom>
          <a:noFill/>
        </p:spPr>
        <p:txBody>
          <a:bodyPr wrap="none" lIns="18288" tIns="18288" rIns="18288" bIns="18288" anchor="t">
            <a:spAutoFit/>
          </a:bodyPr>
          <a:lstStyle/>
          <a:p>
            <a:pPr algn="l"/>
            <a:r>
              <a:rPr sz="1600" b="1" i="0">
                <a:solidFill>
                  <a:srgbClr val="1E1D1C"/>
                </a:solidFill>
                <a:latin typeface="Aptos"/>
              </a:rPr>
              <a:t>Testing</a:t>
            </a:r>
          </a:p>
        </p:txBody>
      </p:sp>
      <p:sp>
        <p:nvSpPr>
          <p:cNvPr id="29" name="TextBox 28"/>
          <p:cNvSpPr txBox="1"/>
          <p:nvPr/>
        </p:nvSpPr>
        <p:spPr>
          <a:xfrm>
            <a:off x="2560320" y="4846320"/>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30" name="TextBox 29"/>
          <p:cNvSpPr txBox="1"/>
          <p:nvPr/>
        </p:nvSpPr>
        <p:spPr>
          <a:xfrm>
            <a:off x="3886200" y="4818888"/>
            <a:ext cx="5808128" cy="283154"/>
          </a:xfrm>
          <a:prstGeom prst="rect">
            <a:avLst/>
          </a:prstGeom>
          <a:noFill/>
        </p:spPr>
        <p:txBody>
          <a:bodyPr wrap="none" lIns="18288" tIns="18288" rIns="18288" bIns="18288" anchor="t">
            <a:spAutoFit/>
          </a:bodyPr>
          <a:lstStyle/>
          <a:p>
            <a:pPr algn="l"/>
            <a:r>
              <a:rPr sz="1600" b="0" i="0">
                <a:solidFill>
                  <a:srgbClr val="1E1D1C"/>
                </a:solidFill>
                <a:latin typeface="Aptos"/>
              </a:rPr>
              <a:t>End-to-end timestamp synchronization and model-output checks</a:t>
            </a:r>
          </a:p>
        </p:txBody>
      </p:sp>
      <p:sp>
        <p:nvSpPr>
          <p:cNvPr id="31" name="Rectangle 30"/>
          <p:cNvSpPr/>
          <p:nvPr/>
        </p:nvSpPr>
        <p:spPr>
          <a:xfrm>
            <a:off x="475488" y="5276088"/>
            <a:ext cx="11228832" cy="521207"/>
          </a:xfrm>
          <a:prstGeom prst="rect">
            <a:avLst/>
          </a:prstGeom>
          <a:solidFill>
            <a:srgbClr val="E9EFF1"/>
          </a:solidFill>
          <a:ln>
            <a:solidFill>
              <a:srgbClr val="CAD2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 y="5413248"/>
            <a:ext cx="520014" cy="283154"/>
          </a:xfrm>
          <a:prstGeom prst="rect">
            <a:avLst/>
          </a:prstGeom>
          <a:noFill/>
        </p:spPr>
        <p:txBody>
          <a:bodyPr wrap="none" lIns="18288" tIns="18288" rIns="18288" bIns="18288" anchor="t">
            <a:spAutoFit/>
          </a:bodyPr>
          <a:lstStyle/>
          <a:p>
            <a:pPr algn="l"/>
            <a:r>
              <a:rPr sz="1600" b="1" i="0">
                <a:solidFill>
                  <a:srgbClr val="1E1D1C"/>
                </a:solidFill>
                <a:latin typeface="Aptos"/>
              </a:rPr>
              <a:t>Pitch</a:t>
            </a:r>
          </a:p>
        </p:txBody>
      </p:sp>
      <p:sp>
        <p:nvSpPr>
          <p:cNvPr id="33" name="TextBox 32"/>
          <p:cNvSpPr txBox="1"/>
          <p:nvPr/>
        </p:nvSpPr>
        <p:spPr>
          <a:xfrm>
            <a:off x="2560320" y="5413248"/>
            <a:ext cx="509435" cy="283154"/>
          </a:xfrm>
          <a:prstGeom prst="rect">
            <a:avLst/>
          </a:prstGeom>
          <a:noFill/>
        </p:spPr>
        <p:txBody>
          <a:bodyPr wrap="none" lIns="18288" tIns="18288" rIns="18288" bIns="18288" anchor="t">
            <a:spAutoFit/>
          </a:bodyPr>
          <a:lstStyle/>
          <a:p>
            <a:pPr algn="l"/>
            <a:r>
              <a:rPr sz="1600" b="0" i="0">
                <a:solidFill>
                  <a:srgbClr val="7D7B79"/>
                </a:solidFill>
                <a:latin typeface="Aptos"/>
              </a:rPr>
              <a:t>Team</a:t>
            </a:r>
          </a:p>
        </p:txBody>
      </p:sp>
      <p:sp>
        <p:nvSpPr>
          <p:cNvPr id="34" name="TextBox 33"/>
          <p:cNvSpPr txBox="1"/>
          <p:nvPr/>
        </p:nvSpPr>
        <p:spPr>
          <a:xfrm>
            <a:off x="3886200" y="5385816"/>
            <a:ext cx="4349589" cy="283154"/>
          </a:xfrm>
          <a:prstGeom prst="rect">
            <a:avLst/>
          </a:prstGeom>
          <a:noFill/>
        </p:spPr>
        <p:txBody>
          <a:bodyPr wrap="none" lIns="18288" tIns="18288" rIns="18288" bIns="18288" anchor="t">
            <a:spAutoFit/>
          </a:bodyPr>
          <a:lstStyle/>
          <a:p>
            <a:pPr algn="l"/>
            <a:r>
              <a:rPr sz="1600" b="0" i="0">
                <a:solidFill>
                  <a:srgbClr val="1E1D1C"/>
                </a:solidFill>
                <a:latin typeface="Aptos"/>
              </a:rPr>
              <a:t>Presentation deck + live demo walkthrough ready</a:t>
            </a:r>
          </a:p>
        </p:txBody>
      </p:sp>
      <p:sp>
        <p:nvSpPr>
          <p:cNvPr id="37" name="TextBox 36"/>
          <p:cNvSpPr txBox="1"/>
          <p:nvPr/>
        </p:nvSpPr>
        <p:spPr>
          <a:xfrm>
            <a:off x="502920" y="6556248"/>
            <a:ext cx="5943600" cy="164592"/>
          </a:xfrm>
          <a:prstGeom prst="rect">
            <a:avLst/>
          </a:prstGeom>
          <a:noFill/>
        </p:spPr>
        <p:txBody>
          <a:bodyPr wrap="none" lIns="18288" tIns="18288" rIns="18288" bIns="18288" anchor="t">
            <a:spAutoFit/>
          </a:bodyPr>
          <a:lstStyle/>
          <a:p>
            <a:pPr algn="l"/>
            <a:r>
              <a:rPr sz="750" b="0" i="0">
                <a:solidFill>
                  <a:srgbClr val="7D7B79"/>
                </a:solidFill>
                <a:latin typeface="Aptos"/>
              </a:rPr>
              <a:t>MadhvaMinds • UCF-Crime anomaly 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1962</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Gururaghavendra omkar</cp:lastModifiedBy>
  <cp:revision>3</cp:revision>
  <dcterms:created xsi:type="dcterms:W3CDTF">2013-01-27T09:14:16Z</dcterms:created>
  <dcterms:modified xsi:type="dcterms:W3CDTF">2026-09-06T06:32:07Z</dcterms:modified>
  <cp:category/>
</cp:coreProperties>
</file>